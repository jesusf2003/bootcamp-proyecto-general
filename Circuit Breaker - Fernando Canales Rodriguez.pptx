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F"/>
        </a:solidFill>
      </p:bgPr>
    </p:bg>
    <p:spTree>
      <p:nvGrpSpPr>
        <p:cNvPr id="1" name=""/>
        <p:cNvGrpSpPr/>
        <p:nvPr/>
      </p:nvGrpSpPr>
      <p:grpSpPr>
        <a:xfrm>
          <a:off x="0" y="0"/>
          <a:ext cx="0" cy="0"/>
          <a:chOff x="0" y="0"/>
          <a:chExt cx="0" cy="0"/>
        </a:xfrm>
      </p:grpSpPr>
      <p:sp>
        <p:nvSpPr>
          <p:cNvPr id="2" name="Shape 0"/>
          <p:cNvSpPr/>
          <p:nvPr/>
        </p:nvSpPr>
        <p:spPr>
          <a:xfrm>
            <a:off x="0" y="4480560"/>
            <a:ext cx="12191695" cy="2377440"/>
          </a:xfrm>
          <a:prstGeom prst="rect">
            <a:avLst/>
          </a:prstGeom>
          <a:solidFill>
            <a:srgbClr val="1E2761"/>
          </a:solidFill>
          <a:ln/>
        </p:spPr>
      </p:sp>
      <p:sp>
        <p:nvSpPr>
          <p:cNvPr id="3" name="Text 1"/>
          <p:cNvSpPr/>
          <p:nvPr/>
        </p:nvSpPr>
        <p:spPr>
          <a:xfrm>
            <a:off x="502920" y="1600200"/>
            <a:ext cx="11185855" cy="36576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PATRÓN DE RESILIENCIA · MICROSERVICIOS</a:t>
            </a:r>
            <a:endParaRPr lang="en-US" sz="1400" dirty="0"/>
          </a:p>
        </p:txBody>
      </p:sp>
      <p:sp>
        <p:nvSpPr>
          <p:cNvPr id="4" name="Text 2"/>
          <p:cNvSpPr/>
          <p:nvPr/>
        </p:nvSpPr>
        <p:spPr>
          <a:xfrm>
            <a:off x="502920" y="2011680"/>
            <a:ext cx="11185855"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Circuit Breaker</a:t>
            </a:r>
            <a:endParaRPr lang="en-US" sz="5400" dirty="0"/>
          </a:p>
        </p:txBody>
      </p:sp>
      <p:sp>
        <p:nvSpPr>
          <p:cNvPr id="5" name="Text 3"/>
          <p:cNvSpPr/>
          <p:nvPr/>
        </p:nvSpPr>
        <p:spPr>
          <a:xfrm>
            <a:off x="502920" y="3246120"/>
            <a:ext cx="9601200" cy="8229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Cómo evitar fallos en cascada entre microservicios — concepto, implementación con Resilience4j y aplicación real en el Proyecto Bancario</a:t>
            </a:r>
            <a:endParaRPr lang="en-US" sz="1500" dirty="0"/>
          </a:p>
        </p:txBody>
      </p:sp>
      <p:sp>
        <p:nvSpPr>
          <p:cNvPr id="6" name="Text 4"/>
          <p:cNvSpPr/>
          <p:nvPr/>
        </p:nvSpPr>
        <p:spPr>
          <a:xfrm>
            <a:off x="502920" y="4892040"/>
            <a:ext cx="2651760" cy="640080"/>
          </a:xfrm>
          <a:prstGeom prst="rect">
            <a:avLst/>
          </a:prstGeom>
          <a:noFill/>
          <a:ln/>
        </p:spPr>
        <p:txBody>
          <a:bodyPr wrap="square"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3</a:t>
            </a:r>
            <a:endParaRPr lang="en-US" sz="3400" dirty="0"/>
          </a:p>
        </p:txBody>
      </p:sp>
      <p:sp>
        <p:nvSpPr>
          <p:cNvPr id="7" name="Text 5"/>
          <p:cNvSpPr/>
          <p:nvPr/>
        </p:nvSpPr>
        <p:spPr>
          <a:xfrm>
            <a:off x="502920" y="5532120"/>
            <a:ext cx="265176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Estados del circuito</a:t>
            </a:r>
            <a:endParaRPr lang="en-US" sz="1200" dirty="0"/>
          </a:p>
        </p:txBody>
      </p:sp>
      <p:sp>
        <p:nvSpPr>
          <p:cNvPr id="8" name="Text 6"/>
          <p:cNvSpPr/>
          <p:nvPr/>
        </p:nvSpPr>
        <p:spPr>
          <a:xfrm>
            <a:off x="3291840" y="4892040"/>
            <a:ext cx="2651760" cy="640080"/>
          </a:xfrm>
          <a:prstGeom prst="rect">
            <a:avLst/>
          </a:prstGeom>
          <a:noFill/>
          <a:ln/>
        </p:spPr>
        <p:txBody>
          <a:bodyPr wrap="square"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4</a:t>
            </a:r>
            <a:endParaRPr lang="en-US" sz="3400" dirty="0"/>
          </a:p>
        </p:txBody>
      </p:sp>
      <p:sp>
        <p:nvSpPr>
          <p:cNvPr id="9" name="Text 7"/>
          <p:cNvSpPr/>
          <p:nvPr/>
        </p:nvSpPr>
        <p:spPr>
          <a:xfrm>
            <a:off x="3291840" y="5532120"/>
            <a:ext cx="265176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Puntos de aplicación</a:t>
            </a:r>
            <a:endParaRPr lang="en-US" sz="1200" dirty="0"/>
          </a:p>
        </p:txBody>
      </p:sp>
      <p:sp>
        <p:nvSpPr>
          <p:cNvPr id="10" name="Text 8"/>
          <p:cNvSpPr/>
          <p:nvPr/>
        </p:nvSpPr>
        <p:spPr>
          <a:xfrm>
            <a:off x="6080760" y="4892040"/>
            <a:ext cx="2651760" cy="640080"/>
          </a:xfrm>
          <a:prstGeom prst="rect">
            <a:avLst/>
          </a:prstGeom>
          <a:noFill/>
          <a:ln/>
        </p:spPr>
        <p:txBody>
          <a:bodyPr wrap="square"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2s</a:t>
            </a:r>
            <a:endParaRPr lang="en-US" sz="3400" dirty="0"/>
          </a:p>
        </p:txBody>
      </p:sp>
      <p:sp>
        <p:nvSpPr>
          <p:cNvPr id="11" name="Text 9"/>
          <p:cNvSpPr/>
          <p:nvPr/>
        </p:nvSpPr>
        <p:spPr>
          <a:xfrm>
            <a:off x="6080760" y="5532120"/>
            <a:ext cx="265176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Timeout configurado</a:t>
            </a:r>
            <a:endParaRPr lang="en-US" sz="1200" dirty="0"/>
          </a:p>
        </p:txBody>
      </p:sp>
      <p:sp>
        <p:nvSpPr>
          <p:cNvPr id="12" name="Text 10"/>
          <p:cNvSpPr/>
          <p:nvPr/>
        </p:nvSpPr>
        <p:spPr>
          <a:xfrm>
            <a:off x="8869680" y="4892040"/>
            <a:ext cx="2651760" cy="640080"/>
          </a:xfrm>
          <a:prstGeom prst="rect">
            <a:avLst/>
          </a:prstGeom>
          <a:noFill/>
          <a:ln/>
        </p:spPr>
        <p:txBody>
          <a:bodyPr wrap="square"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50%</a:t>
            </a:r>
            <a:endParaRPr lang="en-US" sz="3400" dirty="0"/>
          </a:p>
        </p:txBody>
      </p:sp>
      <p:sp>
        <p:nvSpPr>
          <p:cNvPr id="13" name="Text 11"/>
          <p:cNvSpPr/>
          <p:nvPr/>
        </p:nvSpPr>
        <p:spPr>
          <a:xfrm>
            <a:off x="8869680" y="5532120"/>
            <a:ext cx="265176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Umbral de falla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Qué vamos a cubrir</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81328"/>
            <a:ext cx="530352" cy="530352"/>
          </a:xfrm>
          <a:prstGeom prst="roundRect">
            <a:avLst>
              <a:gd name="adj" fmla="val 13793"/>
            </a:avLst>
          </a:prstGeom>
          <a:solidFill>
            <a:srgbClr val="EDF2FC"/>
          </a:solidFill>
          <a:ln w="12700">
            <a:solidFill>
              <a:srgbClr val="CADCFC"/>
            </a:solidFill>
            <a:prstDash val="solid"/>
          </a:ln>
        </p:spPr>
      </p:sp>
      <p:sp>
        <p:nvSpPr>
          <p:cNvPr id="6" name="Text 4"/>
          <p:cNvSpPr/>
          <p:nvPr/>
        </p:nvSpPr>
        <p:spPr>
          <a:xfrm>
            <a:off x="502920" y="1481328"/>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216152" y="1463040"/>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El problema que resuelve</a:t>
            </a:r>
            <a:endParaRPr lang="en-US" sz="1350" dirty="0"/>
          </a:p>
        </p:txBody>
      </p:sp>
      <p:sp>
        <p:nvSpPr>
          <p:cNvPr id="8" name="Text 6"/>
          <p:cNvSpPr/>
          <p:nvPr/>
        </p:nvSpPr>
        <p:spPr>
          <a:xfrm>
            <a:off x="1216152" y="1728216"/>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Fallos en cascada entre microservicios</a:t>
            </a:r>
            <a:endParaRPr lang="en-US" sz="1050" dirty="0"/>
          </a:p>
        </p:txBody>
      </p:sp>
      <p:sp>
        <p:nvSpPr>
          <p:cNvPr id="9" name="Shape 7"/>
          <p:cNvSpPr/>
          <p:nvPr/>
        </p:nvSpPr>
        <p:spPr>
          <a:xfrm>
            <a:off x="502920" y="2139696"/>
            <a:ext cx="530352" cy="530352"/>
          </a:xfrm>
          <a:prstGeom prst="roundRect">
            <a:avLst>
              <a:gd name="adj" fmla="val 13793"/>
            </a:avLst>
          </a:prstGeom>
          <a:solidFill>
            <a:srgbClr val="EDF2FC"/>
          </a:solidFill>
          <a:ln w="12700">
            <a:solidFill>
              <a:srgbClr val="CADCFC"/>
            </a:solidFill>
            <a:prstDash val="solid"/>
          </a:ln>
        </p:spPr>
      </p:sp>
      <p:sp>
        <p:nvSpPr>
          <p:cNvPr id="10" name="Text 8"/>
          <p:cNvSpPr/>
          <p:nvPr/>
        </p:nvSpPr>
        <p:spPr>
          <a:xfrm>
            <a:off x="502920" y="2139696"/>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1216152" y="2121408"/>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Concepto y estados</a:t>
            </a:r>
            <a:endParaRPr lang="en-US" sz="1350" dirty="0"/>
          </a:p>
        </p:txBody>
      </p:sp>
      <p:sp>
        <p:nvSpPr>
          <p:cNvPr id="12" name="Text 10"/>
          <p:cNvSpPr/>
          <p:nvPr/>
        </p:nvSpPr>
        <p:spPr>
          <a:xfrm>
            <a:off x="1216152" y="2386584"/>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Analogía, definición formal y máquina de estados</a:t>
            </a:r>
            <a:endParaRPr lang="en-US" sz="1050" dirty="0"/>
          </a:p>
        </p:txBody>
      </p:sp>
      <p:sp>
        <p:nvSpPr>
          <p:cNvPr id="13" name="Shape 11"/>
          <p:cNvSpPr/>
          <p:nvPr/>
        </p:nvSpPr>
        <p:spPr>
          <a:xfrm>
            <a:off x="502920" y="2798064"/>
            <a:ext cx="530352" cy="530352"/>
          </a:xfrm>
          <a:prstGeom prst="roundRect">
            <a:avLst>
              <a:gd name="adj" fmla="val 13793"/>
            </a:avLst>
          </a:prstGeom>
          <a:solidFill>
            <a:srgbClr val="EDF2FC"/>
          </a:solidFill>
          <a:ln w="12700">
            <a:solidFill>
              <a:srgbClr val="CADCFC"/>
            </a:solidFill>
            <a:prstDash val="solid"/>
          </a:ln>
        </p:spPr>
      </p:sp>
      <p:sp>
        <p:nvSpPr>
          <p:cNvPr id="14" name="Text 12"/>
          <p:cNvSpPr/>
          <p:nvPr/>
        </p:nvSpPr>
        <p:spPr>
          <a:xfrm>
            <a:off x="502920" y="2798064"/>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1216152" y="2779776"/>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Parámetros de configuración</a:t>
            </a:r>
            <a:endParaRPr lang="en-US" sz="1350" dirty="0"/>
          </a:p>
        </p:txBody>
      </p:sp>
      <p:sp>
        <p:nvSpPr>
          <p:cNvPr id="16" name="Text 14"/>
          <p:cNvSpPr/>
          <p:nvPr/>
        </p:nvSpPr>
        <p:spPr>
          <a:xfrm>
            <a:off x="1216152" y="3044952"/>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Sliding window, umbral de falla, timeout, half-open</a:t>
            </a:r>
            <a:endParaRPr lang="en-US" sz="1050" dirty="0"/>
          </a:p>
        </p:txBody>
      </p:sp>
      <p:sp>
        <p:nvSpPr>
          <p:cNvPr id="17" name="Shape 15"/>
          <p:cNvSpPr/>
          <p:nvPr/>
        </p:nvSpPr>
        <p:spPr>
          <a:xfrm>
            <a:off x="502920" y="3456432"/>
            <a:ext cx="530352" cy="530352"/>
          </a:xfrm>
          <a:prstGeom prst="roundRect">
            <a:avLst>
              <a:gd name="adj" fmla="val 13793"/>
            </a:avLst>
          </a:prstGeom>
          <a:solidFill>
            <a:srgbClr val="EDF2FC"/>
          </a:solidFill>
          <a:ln w="12700">
            <a:solidFill>
              <a:srgbClr val="CADCFC"/>
            </a:solidFill>
            <a:prstDash val="solid"/>
          </a:ln>
        </p:spPr>
      </p:sp>
      <p:sp>
        <p:nvSpPr>
          <p:cNvPr id="18" name="Text 16"/>
          <p:cNvSpPr/>
          <p:nvPr/>
        </p:nvSpPr>
        <p:spPr>
          <a:xfrm>
            <a:off x="502920" y="3456432"/>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04</a:t>
            </a:r>
            <a:endParaRPr lang="en-US" sz="1600" dirty="0"/>
          </a:p>
        </p:txBody>
      </p:sp>
      <p:sp>
        <p:nvSpPr>
          <p:cNvPr id="19" name="Text 17"/>
          <p:cNvSpPr/>
          <p:nvPr/>
        </p:nvSpPr>
        <p:spPr>
          <a:xfrm>
            <a:off x="1216152" y="3438144"/>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Circuit Breaker + Timeout + Retry</a:t>
            </a:r>
            <a:endParaRPr lang="en-US" sz="1350" dirty="0"/>
          </a:p>
        </p:txBody>
      </p:sp>
      <p:sp>
        <p:nvSpPr>
          <p:cNvPr id="20" name="Text 18"/>
          <p:cNvSpPr/>
          <p:nvPr/>
        </p:nvSpPr>
        <p:spPr>
          <a:xfrm>
            <a:off x="1216152" y="3703320"/>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Patrones complementarios de resiliencia</a:t>
            </a:r>
            <a:endParaRPr lang="en-US" sz="1050" dirty="0"/>
          </a:p>
        </p:txBody>
      </p:sp>
      <p:sp>
        <p:nvSpPr>
          <p:cNvPr id="21" name="Shape 19"/>
          <p:cNvSpPr/>
          <p:nvPr/>
        </p:nvSpPr>
        <p:spPr>
          <a:xfrm>
            <a:off x="502920" y="4114800"/>
            <a:ext cx="530352" cy="530352"/>
          </a:xfrm>
          <a:prstGeom prst="roundRect">
            <a:avLst>
              <a:gd name="adj" fmla="val 13793"/>
            </a:avLst>
          </a:prstGeom>
          <a:solidFill>
            <a:srgbClr val="EDF2FC"/>
          </a:solidFill>
          <a:ln w="12700">
            <a:solidFill>
              <a:srgbClr val="CADCFC"/>
            </a:solidFill>
            <a:prstDash val="solid"/>
          </a:ln>
        </p:spPr>
      </p:sp>
      <p:sp>
        <p:nvSpPr>
          <p:cNvPr id="22" name="Text 20"/>
          <p:cNvSpPr/>
          <p:nvPr/>
        </p:nvSpPr>
        <p:spPr>
          <a:xfrm>
            <a:off x="502920" y="4114800"/>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05</a:t>
            </a:r>
            <a:endParaRPr lang="en-US" sz="1600" dirty="0"/>
          </a:p>
        </p:txBody>
      </p:sp>
      <p:sp>
        <p:nvSpPr>
          <p:cNvPr id="23" name="Text 21"/>
          <p:cNvSpPr/>
          <p:nvPr/>
        </p:nvSpPr>
        <p:spPr>
          <a:xfrm>
            <a:off x="1216152" y="4096512"/>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Aplicación en el proyecto</a:t>
            </a:r>
            <a:endParaRPr lang="en-US" sz="1350" dirty="0"/>
          </a:p>
        </p:txBody>
      </p:sp>
      <p:sp>
        <p:nvSpPr>
          <p:cNvPr id="24" name="Text 22"/>
          <p:cNvSpPr/>
          <p:nvPr/>
        </p:nvSpPr>
        <p:spPr>
          <a:xfrm>
            <a:off x="1216152" y="4361688"/>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Dónde y cómo se usó Resilience4j en los 9 microservicios</a:t>
            </a:r>
            <a:endParaRPr lang="en-US" sz="1050" dirty="0"/>
          </a:p>
        </p:txBody>
      </p:sp>
      <p:sp>
        <p:nvSpPr>
          <p:cNvPr id="25" name="Shape 23"/>
          <p:cNvSpPr/>
          <p:nvPr/>
        </p:nvSpPr>
        <p:spPr>
          <a:xfrm>
            <a:off x="502920" y="4773168"/>
            <a:ext cx="530352" cy="530352"/>
          </a:xfrm>
          <a:prstGeom prst="roundRect">
            <a:avLst>
              <a:gd name="adj" fmla="val 13793"/>
            </a:avLst>
          </a:prstGeom>
          <a:solidFill>
            <a:srgbClr val="EDF2FC"/>
          </a:solidFill>
          <a:ln w="12700">
            <a:solidFill>
              <a:srgbClr val="CADCFC"/>
            </a:solidFill>
            <a:prstDash val="solid"/>
          </a:ln>
        </p:spPr>
      </p:sp>
      <p:sp>
        <p:nvSpPr>
          <p:cNvPr id="26" name="Text 24"/>
          <p:cNvSpPr/>
          <p:nvPr/>
        </p:nvSpPr>
        <p:spPr>
          <a:xfrm>
            <a:off x="502920" y="4773168"/>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06</a:t>
            </a:r>
            <a:endParaRPr lang="en-US" sz="1600" dirty="0"/>
          </a:p>
        </p:txBody>
      </p:sp>
      <p:sp>
        <p:nvSpPr>
          <p:cNvPr id="27" name="Text 25"/>
          <p:cNvSpPr/>
          <p:nvPr/>
        </p:nvSpPr>
        <p:spPr>
          <a:xfrm>
            <a:off x="1216152" y="4754880"/>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Implementación en código</a:t>
            </a:r>
            <a:endParaRPr lang="en-US" sz="1350" dirty="0"/>
          </a:p>
        </p:txBody>
      </p:sp>
      <p:sp>
        <p:nvSpPr>
          <p:cNvPr id="28" name="Text 26"/>
          <p:cNvSpPr/>
          <p:nvPr/>
        </p:nvSpPr>
        <p:spPr>
          <a:xfrm>
            <a:off x="1216152" y="5020056"/>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Gateway, llamadas reactivas y estrategia de fallback</a:t>
            </a:r>
            <a:endParaRPr lang="en-US" sz="1050" dirty="0"/>
          </a:p>
        </p:txBody>
      </p:sp>
      <p:sp>
        <p:nvSpPr>
          <p:cNvPr id="29" name="Shape 27"/>
          <p:cNvSpPr/>
          <p:nvPr/>
        </p:nvSpPr>
        <p:spPr>
          <a:xfrm>
            <a:off x="502920" y="5431536"/>
            <a:ext cx="530352" cy="530352"/>
          </a:xfrm>
          <a:prstGeom prst="roundRect">
            <a:avLst>
              <a:gd name="adj" fmla="val 13793"/>
            </a:avLst>
          </a:prstGeom>
          <a:solidFill>
            <a:srgbClr val="EDF2FC"/>
          </a:solidFill>
          <a:ln w="12700">
            <a:solidFill>
              <a:srgbClr val="CADCFC"/>
            </a:solidFill>
            <a:prstDash val="solid"/>
          </a:ln>
        </p:spPr>
      </p:sp>
      <p:sp>
        <p:nvSpPr>
          <p:cNvPr id="30" name="Text 28"/>
          <p:cNvSpPr/>
          <p:nvPr/>
        </p:nvSpPr>
        <p:spPr>
          <a:xfrm>
            <a:off x="502920" y="5431536"/>
            <a:ext cx="530352" cy="530352"/>
          </a:xfrm>
          <a:prstGeom prst="rect">
            <a:avLst/>
          </a:prstGeom>
          <a:noFill/>
          <a:ln/>
        </p:spPr>
        <p:txBody>
          <a:bodyPr wrap="square"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07</a:t>
            </a:r>
            <a:endParaRPr lang="en-US" sz="1600" dirty="0"/>
          </a:p>
        </p:txBody>
      </p:sp>
      <p:sp>
        <p:nvSpPr>
          <p:cNvPr id="31" name="Text 29"/>
          <p:cNvSpPr/>
          <p:nvPr/>
        </p:nvSpPr>
        <p:spPr>
          <a:xfrm>
            <a:off x="1216152" y="5413248"/>
            <a:ext cx="493776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Demostración y lecciones aprendidas</a:t>
            </a:r>
            <a:endParaRPr lang="en-US" sz="1350" dirty="0"/>
          </a:p>
        </p:txBody>
      </p:sp>
      <p:sp>
        <p:nvSpPr>
          <p:cNvPr id="32" name="Text 30"/>
          <p:cNvSpPr/>
          <p:nvPr/>
        </p:nvSpPr>
        <p:spPr>
          <a:xfrm>
            <a:off x="1216152" y="5678424"/>
            <a:ext cx="6858000" cy="292608"/>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Cómo probarlo y qué aprendí al implementarlo</a:t>
            </a:r>
            <a:endParaRPr lang="en-US" sz="1050" dirty="0"/>
          </a:p>
        </p:txBody>
      </p:sp>
      <p:sp>
        <p:nvSpPr>
          <p:cNvPr id="33" name="Text 31"/>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Agenda</a:t>
            </a:r>
            <a:endParaRPr lang="en-US" sz="900" dirty="0"/>
          </a:p>
        </p:txBody>
      </p:sp>
      <p:sp>
        <p:nvSpPr>
          <p:cNvPr id="34" name="Text 32"/>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Fallos en cascada entre microservicios</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Text 3"/>
          <p:cNvSpPr/>
          <p:nvPr/>
        </p:nvSpPr>
        <p:spPr>
          <a:xfrm>
            <a:off x="502920" y="1353312"/>
            <a:ext cx="11185855" cy="320040"/>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Sin protección, la caída de un solo microservicio se propaga y puede tumbar todo el sistema:</a:t>
            </a:r>
            <a:endParaRPr lang="en-US" sz="1250" dirty="0"/>
          </a:p>
        </p:txBody>
      </p:sp>
      <p:sp>
        <p:nvSpPr>
          <p:cNvPr id="6" name="Shape 4"/>
          <p:cNvSpPr/>
          <p:nvPr/>
        </p:nvSpPr>
        <p:spPr>
          <a:xfrm>
            <a:off x="777240" y="1965960"/>
            <a:ext cx="2834640" cy="1051560"/>
          </a:xfrm>
          <a:prstGeom prst="roundRect">
            <a:avLst>
              <a:gd name="adj" fmla="val 6957"/>
            </a:avLst>
          </a:prstGeom>
          <a:solidFill>
            <a:srgbClr val="EDF2FC"/>
          </a:solidFill>
          <a:ln w="19050">
            <a:solidFill>
              <a:srgbClr val="CADCFC"/>
            </a:solidFill>
            <a:prstDash val="solid"/>
          </a:ln>
        </p:spPr>
      </p:sp>
      <p:sp>
        <p:nvSpPr>
          <p:cNvPr id="7" name="Text 5"/>
          <p:cNvSpPr/>
          <p:nvPr/>
        </p:nvSpPr>
        <p:spPr>
          <a:xfrm>
            <a:off x="777240" y="2103120"/>
            <a:ext cx="2834640" cy="3200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ms-yanki</a:t>
            </a:r>
            <a:endParaRPr lang="en-US" sz="1300" dirty="0"/>
          </a:p>
        </p:txBody>
      </p:sp>
      <p:sp>
        <p:nvSpPr>
          <p:cNvPr id="8" name="Text 6"/>
          <p:cNvSpPr/>
          <p:nvPr/>
        </p:nvSpPr>
        <p:spPr>
          <a:xfrm>
            <a:off x="868680" y="2423160"/>
            <a:ext cx="2651760" cy="502920"/>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Envía dinero</a:t>
            </a:r>
            <a:endParaRPr lang="en-US" sz="1000" dirty="0"/>
          </a:p>
        </p:txBody>
      </p:sp>
      <p:sp>
        <p:nvSpPr>
          <p:cNvPr id="9" name="Shape 7"/>
          <p:cNvSpPr/>
          <p:nvPr/>
        </p:nvSpPr>
        <p:spPr>
          <a:xfrm>
            <a:off x="3685032" y="2377440"/>
            <a:ext cx="859536" cy="228600"/>
          </a:xfrm>
          <a:prstGeom prst="rightArrow">
            <a:avLst/>
          </a:prstGeom>
          <a:solidFill>
            <a:srgbClr val="141B3F"/>
          </a:solidFill>
          <a:ln/>
        </p:spPr>
      </p:sp>
      <p:sp>
        <p:nvSpPr>
          <p:cNvPr id="10" name="Shape 8"/>
          <p:cNvSpPr/>
          <p:nvPr/>
        </p:nvSpPr>
        <p:spPr>
          <a:xfrm>
            <a:off x="4617720" y="1965960"/>
            <a:ext cx="2834640" cy="1051560"/>
          </a:xfrm>
          <a:prstGeom prst="roundRect">
            <a:avLst>
              <a:gd name="adj" fmla="val 6957"/>
            </a:avLst>
          </a:prstGeom>
          <a:solidFill>
            <a:srgbClr val="EDF2FC"/>
          </a:solidFill>
          <a:ln w="19050">
            <a:solidFill>
              <a:srgbClr val="CADCFC"/>
            </a:solidFill>
            <a:prstDash val="solid"/>
          </a:ln>
        </p:spPr>
      </p:sp>
      <p:sp>
        <p:nvSpPr>
          <p:cNvPr id="11" name="Text 9"/>
          <p:cNvSpPr/>
          <p:nvPr/>
        </p:nvSpPr>
        <p:spPr>
          <a:xfrm>
            <a:off x="4617720" y="2103120"/>
            <a:ext cx="2834640" cy="3200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ms-accounts</a:t>
            </a:r>
            <a:endParaRPr lang="en-US" sz="1300" dirty="0"/>
          </a:p>
        </p:txBody>
      </p:sp>
      <p:sp>
        <p:nvSpPr>
          <p:cNvPr id="12" name="Text 10"/>
          <p:cNvSpPr/>
          <p:nvPr/>
        </p:nvSpPr>
        <p:spPr>
          <a:xfrm>
            <a:off x="4709160" y="2423160"/>
            <a:ext cx="2651760" cy="502920"/>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Ejecuta la transferencia</a:t>
            </a:r>
            <a:endParaRPr lang="en-US" sz="1000" dirty="0"/>
          </a:p>
        </p:txBody>
      </p:sp>
      <p:sp>
        <p:nvSpPr>
          <p:cNvPr id="13" name="Shape 11"/>
          <p:cNvSpPr/>
          <p:nvPr/>
        </p:nvSpPr>
        <p:spPr>
          <a:xfrm>
            <a:off x="7525512" y="2377440"/>
            <a:ext cx="859536" cy="228600"/>
          </a:xfrm>
          <a:prstGeom prst="rightArrow">
            <a:avLst/>
          </a:prstGeom>
          <a:solidFill>
            <a:srgbClr val="141B3F"/>
          </a:solidFill>
          <a:ln/>
        </p:spPr>
      </p:sp>
      <p:sp>
        <p:nvSpPr>
          <p:cNvPr id="14" name="Shape 12"/>
          <p:cNvSpPr/>
          <p:nvPr/>
        </p:nvSpPr>
        <p:spPr>
          <a:xfrm>
            <a:off x="8458200" y="1965960"/>
            <a:ext cx="2834640" cy="1051560"/>
          </a:xfrm>
          <a:prstGeom prst="roundRect">
            <a:avLst>
              <a:gd name="adj" fmla="val 6957"/>
            </a:avLst>
          </a:prstGeom>
          <a:solidFill>
            <a:srgbClr val="FBEAE9"/>
          </a:solidFill>
          <a:ln w="19050">
            <a:solidFill>
              <a:srgbClr val="B3261E"/>
            </a:solidFill>
            <a:prstDash val="solid"/>
          </a:ln>
        </p:spPr>
      </p:sp>
      <p:sp>
        <p:nvSpPr>
          <p:cNvPr id="15" name="Text 13"/>
          <p:cNvSpPr/>
          <p:nvPr/>
        </p:nvSpPr>
        <p:spPr>
          <a:xfrm>
            <a:off x="8458200" y="2103120"/>
            <a:ext cx="2834640" cy="320040"/>
          </a:xfrm>
          <a:prstGeom prst="rect">
            <a:avLst/>
          </a:prstGeom>
          <a:noFill/>
          <a:ln/>
        </p:spPr>
        <p:txBody>
          <a:bodyPr wrap="square" rtlCol="0" anchor="ctr"/>
          <a:lstStyle/>
          <a:p>
            <a:pPr algn="ctr" indent="0" marL="0">
              <a:buNone/>
            </a:pPr>
            <a:r>
              <a:rPr lang="en-US" sz="1300" b="1" dirty="0">
                <a:solidFill>
                  <a:srgbClr val="B3261E"/>
                </a:solidFill>
                <a:latin typeface="Calibri" pitchFamily="34" charset="0"/>
                <a:ea typeface="Calibri" pitchFamily="34" charset="-122"/>
                <a:cs typeface="Calibri" pitchFamily="34" charset="-120"/>
              </a:rPr>
              <a:t>ms-customers</a:t>
            </a:r>
            <a:endParaRPr lang="en-US" sz="1300" dirty="0"/>
          </a:p>
        </p:txBody>
      </p:sp>
      <p:sp>
        <p:nvSpPr>
          <p:cNvPr id="16" name="Text 14"/>
          <p:cNvSpPr/>
          <p:nvPr/>
        </p:nvSpPr>
        <p:spPr>
          <a:xfrm>
            <a:off x="8549640" y="2423160"/>
            <a:ext cx="2651760" cy="502920"/>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Valida el cliente</a:t>
            </a:r>
            <a:endParaRPr lang="en-US" sz="1000" dirty="0"/>
          </a:p>
          <a:p>
            <a:pPr algn="ctr" indent="0" marL="0">
              <a:buNone/>
            </a:pPr>
            <a:r>
              <a:rPr lang="en-US" sz="1000" dirty="0">
                <a:solidFill>
                  <a:srgbClr val="5B6472"/>
                </a:solidFill>
                <a:latin typeface="Calibri" pitchFamily="34" charset="0"/>
                <a:ea typeface="Calibri" pitchFamily="34" charset="-122"/>
                <a:cs typeface="Calibri" pitchFamily="34" charset="-120"/>
              </a:rPr>
              <a:t>(caído / lento)</a:t>
            </a:r>
            <a:endParaRPr lang="en-US" sz="1000" dirty="0"/>
          </a:p>
        </p:txBody>
      </p:sp>
      <p:sp>
        <p:nvSpPr>
          <p:cNvPr id="17" name="Text 15"/>
          <p:cNvSpPr/>
          <p:nvPr/>
        </p:nvSpPr>
        <p:spPr>
          <a:xfrm>
            <a:off x="502920" y="3337560"/>
            <a:ext cx="11185855" cy="8229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Cada petición de ms-accounts a ms-customers se queda esperando la respuesta (o el timeout por defecto, que puede ser largo). Los hilos y las conexiones se van acumulando, ms-accounts se satura, y termina cayendo también — aunque su propia lógica esté perfectamente sana.</a:t>
            </a:r>
            <a:endParaRPr lang="en-US" sz="1200" dirty="0"/>
          </a:p>
        </p:txBody>
      </p:sp>
      <p:sp>
        <p:nvSpPr>
          <p:cNvPr id="18" name="Shape 16"/>
          <p:cNvSpPr/>
          <p:nvPr/>
        </p:nvSpPr>
        <p:spPr>
          <a:xfrm>
            <a:off x="502920" y="4343400"/>
            <a:ext cx="11185855" cy="1417320"/>
          </a:xfrm>
          <a:prstGeom prst="roundRect">
            <a:avLst>
              <a:gd name="adj" fmla="val 5161"/>
            </a:avLst>
          </a:prstGeom>
          <a:solidFill>
            <a:srgbClr val="141B3F"/>
          </a:solidFill>
          <a:ln/>
        </p:spPr>
      </p:sp>
      <p:sp>
        <p:nvSpPr>
          <p:cNvPr id="19" name="Text 17"/>
          <p:cNvSpPr/>
          <p:nvPr/>
        </p:nvSpPr>
        <p:spPr>
          <a:xfrm>
            <a:off x="777240" y="4343400"/>
            <a:ext cx="10637215" cy="1417320"/>
          </a:xfrm>
          <a:prstGeom prst="rect">
            <a:avLst/>
          </a:prstGeom>
          <a:noFill/>
          <a:ln/>
        </p:spPr>
        <p:txBody>
          <a:bodyPr wrap="square" rtlCol="0" anchor="ctr"/>
          <a:lstStyle/>
          <a:p>
            <a:pPr indent="0" marL="0">
              <a:buNone/>
            </a:pPr>
            <a:r>
              <a:rPr lang="en-US" sz="1450" i="1" dirty="0">
                <a:solidFill>
                  <a:srgbClr val="FFFFFF"/>
                </a:solidFill>
                <a:latin typeface="Cambria" pitchFamily="34" charset="0"/>
                <a:ea typeface="Cambria" pitchFamily="34" charset="-122"/>
                <a:cs typeface="Cambria" pitchFamily="34" charset="-120"/>
              </a:rPr>
              <a:t>Esto se llama “fallo en cascada” (cascading failure): un problema aislado y menor termina afectando a servicios que no tenían ningún error propio, simplemente por depender de otro que sí lo tenía. El Circuit Breaker corta esa cadena antes de que se propague.</a:t>
            </a:r>
            <a:endParaRPr lang="en-US" sz="1450" dirty="0"/>
          </a:p>
        </p:txBody>
      </p:sp>
      <p:sp>
        <p:nvSpPr>
          <p:cNvPr id="20" name="Text 18"/>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El problema</a:t>
            </a:r>
            <a:endParaRPr lang="en-US" sz="900" dirty="0"/>
          </a:p>
        </p:txBody>
      </p:sp>
      <p:sp>
        <p:nvSpPr>
          <p:cNvPr id="21" name="Text 19"/>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CONCEPTO</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Qué es un Circuit Breaker</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17320"/>
            <a:ext cx="5212080" cy="2103120"/>
          </a:xfrm>
          <a:prstGeom prst="roundRect">
            <a:avLst>
              <a:gd name="adj" fmla="val 3913"/>
            </a:avLst>
          </a:prstGeom>
          <a:solidFill>
            <a:srgbClr val="EDF2FC"/>
          </a:solidFill>
          <a:ln w="12700">
            <a:solidFill>
              <a:srgbClr val="CADCFC"/>
            </a:solidFill>
            <a:prstDash val="solid"/>
          </a:ln>
        </p:spPr>
      </p:sp>
      <p:sp>
        <p:nvSpPr>
          <p:cNvPr id="6" name="Text 4"/>
          <p:cNvSpPr/>
          <p:nvPr/>
        </p:nvSpPr>
        <p:spPr>
          <a:xfrm>
            <a:off x="731520" y="1600200"/>
            <a:ext cx="4754880" cy="32004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 La analogía eléctrica</a:t>
            </a:r>
            <a:endParaRPr lang="en-US" sz="1500" dirty="0"/>
          </a:p>
        </p:txBody>
      </p:sp>
      <p:sp>
        <p:nvSpPr>
          <p:cNvPr id="7" name="Text 5"/>
          <p:cNvSpPr/>
          <p:nvPr/>
        </p:nvSpPr>
        <p:spPr>
          <a:xfrm>
            <a:off x="731520" y="1965960"/>
            <a:ext cx="4754880" cy="14173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Igual que el interruptor de tu casa corta la corriente cuando detecta una sobrecarga — para proteger el resto de la instalación, no la parte que falló — el Circuit Breaker de software corta las llamadas hacia un servicio que está fallando, para proteger al que lo está llamando.</a:t>
            </a:r>
            <a:endParaRPr lang="en-US" sz="1150" dirty="0"/>
          </a:p>
        </p:txBody>
      </p:sp>
      <p:sp>
        <p:nvSpPr>
          <p:cNvPr id="8" name="Shape 6"/>
          <p:cNvSpPr/>
          <p:nvPr/>
        </p:nvSpPr>
        <p:spPr>
          <a:xfrm>
            <a:off x="5989320" y="1417320"/>
            <a:ext cx="5212080" cy="2103120"/>
          </a:xfrm>
          <a:prstGeom prst="roundRect">
            <a:avLst>
              <a:gd name="adj" fmla="val 3913"/>
            </a:avLst>
          </a:prstGeom>
          <a:solidFill>
            <a:srgbClr val="EDF2FC"/>
          </a:solidFill>
          <a:ln w="12700">
            <a:solidFill>
              <a:srgbClr val="CADCFC"/>
            </a:solidFill>
            <a:prstDash val="solid"/>
          </a:ln>
        </p:spPr>
      </p:sp>
      <p:sp>
        <p:nvSpPr>
          <p:cNvPr id="9" name="Text 7"/>
          <p:cNvSpPr/>
          <p:nvPr/>
        </p:nvSpPr>
        <p:spPr>
          <a:xfrm>
            <a:off x="6217920" y="1600200"/>
            <a:ext cx="4754880" cy="32004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 Definición formal</a:t>
            </a:r>
            <a:endParaRPr lang="en-US" sz="1500" dirty="0"/>
          </a:p>
        </p:txBody>
      </p:sp>
      <p:sp>
        <p:nvSpPr>
          <p:cNvPr id="10" name="Text 8"/>
          <p:cNvSpPr/>
          <p:nvPr/>
        </p:nvSpPr>
        <p:spPr>
          <a:xfrm>
            <a:off x="6217920" y="1965960"/>
            <a:ext cx="4754880" cy="14173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Es un patrón de diseño que envuelve una llamada remota y monitorea sus fallos. Cuando la tasa de fallos supera un umbral, el circuito se “abre” y las siguientes llamadas fallan de inmediato (sin ni siquiera intentar la red), devolviendo una respuesta alternativa controlada.</a:t>
            </a:r>
            <a:endParaRPr lang="en-US" sz="1150" dirty="0"/>
          </a:p>
        </p:txBody>
      </p:sp>
      <p:sp>
        <p:nvSpPr>
          <p:cNvPr id="11" name="Text 9"/>
          <p:cNvSpPr/>
          <p:nvPr/>
        </p:nvSpPr>
        <p:spPr>
          <a:xfrm>
            <a:off x="502920" y="3794760"/>
            <a:ext cx="5486400" cy="32004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Objetivos concretos que cumple:</a:t>
            </a:r>
            <a:endParaRPr lang="en-US" sz="1250" dirty="0"/>
          </a:p>
        </p:txBody>
      </p:sp>
      <p:sp>
        <p:nvSpPr>
          <p:cNvPr id="12" name="Shape 10"/>
          <p:cNvSpPr/>
          <p:nvPr/>
        </p:nvSpPr>
        <p:spPr>
          <a:xfrm>
            <a:off x="502920" y="4215384"/>
            <a:ext cx="128016" cy="128016"/>
          </a:xfrm>
          <a:prstGeom prst="ellipse">
            <a:avLst/>
          </a:prstGeom>
          <a:solidFill>
            <a:srgbClr val="C9A227"/>
          </a:solidFill>
          <a:ln/>
        </p:spPr>
      </p:sp>
      <p:sp>
        <p:nvSpPr>
          <p:cNvPr id="13" name="Text 11"/>
          <p:cNvSpPr/>
          <p:nvPr/>
        </p:nvSpPr>
        <p:spPr>
          <a:xfrm>
            <a:off x="777240" y="4105656"/>
            <a:ext cx="1091153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Falla rápido en vez de dejar al cliente esperando un timeout largo</a:t>
            </a:r>
            <a:endParaRPr lang="en-US" sz="1200" dirty="0"/>
          </a:p>
        </p:txBody>
      </p:sp>
      <p:sp>
        <p:nvSpPr>
          <p:cNvPr id="14" name="Shape 12"/>
          <p:cNvSpPr/>
          <p:nvPr/>
        </p:nvSpPr>
        <p:spPr>
          <a:xfrm>
            <a:off x="502920" y="4636008"/>
            <a:ext cx="128016" cy="128016"/>
          </a:xfrm>
          <a:prstGeom prst="ellipse">
            <a:avLst/>
          </a:prstGeom>
          <a:solidFill>
            <a:srgbClr val="C9A227"/>
          </a:solidFill>
          <a:ln/>
        </p:spPr>
      </p:sp>
      <p:sp>
        <p:nvSpPr>
          <p:cNvPr id="15" name="Text 13"/>
          <p:cNvSpPr/>
          <p:nvPr/>
        </p:nvSpPr>
        <p:spPr>
          <a:xfrm>
            <a:off x="777240" y="4526280"/>
            <a:ext cx="1091153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Evita saturar de reintentos a un servicio que ya está sufriendo</a:t>
            </a:r>
            <a:endParaRPr lang="en-US" sz="1200" dirty="0"/>
          </a:p>
        </p:txBody>
      </p:sp>
      <p:sp>
        <p:nvSpPr>
          <p:cNvPr id="16" name="Shape 14"/>
          <p:cNvSpPr/>
          <p:nvPr/>
        </p:nvSpPr>
        <p:spPr>
          <a:xfrm>
            <a:off x="502920" y="5056632"/>
            <a:ext cx="128016" cy="128016"/>
          </a:xfrm>
          <a:prstGeom prst="ellipse">
            <a:avLst/>
          </a:prstGeom>
          <a:solidFill>
            <a:srgbClr val="C9A227"/>
          </a:solidFill>
          <a:ln/>
        </p:spPr>
      </p:sp>
      <p:sp>
        <p:nvSpPr>
          <p:cNvPr id="17" name="Text 15"/>
          <p:cNvSpPr/>
          <p:nvPr/>
        </p:nvSpPr>
        <p:spPr>
          <a:xfrm>
            <a:off x="777240" y="4946904"/>
            <a:ext cx="1091153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Le da tiempo al servicio caído para recuperarse sin presión adicional</a:t>
            </a:r>
            <a:endParaRPr lang="en-US" sz="1200" dirty="0"/>
          </a:p>
        </p:txBody>
      </p:sp>
      <p:sp>
        <p:nvSpPr>
          <p:cNvPr id="18" name="Shape 16"/>
          <p:cNvSpPr/>
          <p:nvPr/>
        </p:nvSpPr>
        <p:spPr>
          <a:xfrm>
            <a:off x="502920" y="5477256"/>
            <a:ext cx="128016" cy="128016"/>
          </a:xfrm>
          <a:prstGeom prst="ellipse">
            <a:avLst/>
          </a:prstGeom>
          <a:solidFill>
            <a:srgbClr val="C9A227"/>
          </a:solidFill>
          <a:ln/>
        </p:spPr>
      </p:sp>
      <p:sp>
        <p:nvSpPr>
          <p:cNvPr id="19" name="Text 17"/>
          <p:cNvSpPr/>
          <p:nvPr/>
        </p:nvSpPr>
        <p:spPr>
          <a:xfrm>
            <a:off x="777240" y="5367528"/>
            <a:ext cx="1091153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Permite responder con un valor por defecto o un mensaje claro, en vez de un error 500 crudo</a:t>
            </a:r>
            <a:endParaRPr lang="en-US" sz="1200" dirty="0"/>
          </a:p>
        </p:txBody>
      </p:sp>
      <p:sp>
        <p:nvSpPr>
          <p:cNvPr id="20" name="Text 18"/>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Concepto</a:t>
            </a:r>
            <a:endParaRPr lang="en-US" sz="900" dirty="0"/>
          </a:p>
        </p:txBody>
      </p:sp>
      <p:sp>
        <p:nvSpPr>
          <p:cNvPr id="21" name="Text 19"/>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CONCEPTO</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La máquina de estados</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1371600" y="2011680"/>
            <a:ext cx="1920240" cy="1005840"/>
          </a:xfrm>
          <a:prstGeom prst="roundRect">
            <a:avLst>
              <a:gd name="adj" fmla="val 50000"/>
            </a:avLst>
          </a:prstGeom>
          <a:solidFill>
            <a:srgbClr val="E7F4EC"/>
          </a:solidFill>
          <a:ln w="25400">
            <a:solidFill>
              <a:srgbClr val="1F8A50"/>
            </a:solidFill>
            <a:prstDash val="solid"/>
          </a:ln>
        </p:spPr>
      </p:sp>
      <p:sp>
        <p:nvSpPr>
          <p:cNvPr id="6" name="Text 4"/>
          <p:cNvSpPr/>
          <p:nvPr/>
        </p:nvSpPr>
        <p:spPr>
          <a:xfrm>
            <a:off x="1371600" y="2121408"/>
            <a:ext cx="1920240" cy="365760"/>
          </a:xfrm>
          <a:prstGeom prst="rect">
            <a:avLst/>
          </a:prstGeom>
          <a:noFill/>
          <a:ln/>
        </p:spPr>
        <p:txBody>
          <a:bodyPr wrap="square" rtlCol="0" anchor="ctr"/>
          <a:lstStyle/>
          <a:p>
            <a:pPr algn="ctr" indent="0" marL="0">
              <a:buNone/>
            </a:pPr>
            <a:r>
              <a:rPr lang="en-US" sz="1500" b="1" dirty="0">
                <a:solidFill>
                  <a:srgbClr val="1F8A50"/>
                </a:solidFill>
                <a:latin typeface="Cambria" pitchFamily="34" charset="0"/>
                <a:ea typeface="Cambria" pitchFamily="34" charset="-122"/>
                <a:cs typeface="Cambria" pitchFamily="34" charset="-120"/>
              </a:rPr>
              <a:t>CLOSED</a:t>
            </a:r>
            <a:endParaRPr lang="en-US" sz="1500" dirty="0"/>
          </a:p>
        </p:txBody>
      </p:sp>
      <p:sp>
        <p:nvSpPr>
          <p:cNvPr id="7" name="Text 5"/>
          <p:cNvSpPr/>
          <p:nvPr/>
        </p:nvSpPr>
        <p:spPr>
          <a:xfrm>
            <a:off x="1463040" y="2468880"/>
            <a:ext cx="1737360" cy="502920"/>
          </a:xfrm>
          <a:prstGeom prst="rect">
            <a:avLst/>
          </a:prstGeom>
          <a:noFill/>
          <a:ln/>
        </p:spPr>
        <p:txBody>
          <a:bodyPr wrap="square"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Todo funciona</a:t>
            </a:r>
            <a:endParaRPr lang="en-US" sz="950" dirty="0"/>
          </a:p>
          <a:p>
            <a:pPr algn="ctr" indent="0" marL="0">
              <a:buNone/>
            </a:pPr>
            <a:r>
              <a:rPr lang="en-US" sz="950" dirty="0">
                <a:solidFill>
                  <a:srgbClr val="1F2937"/>
                </a:solidFill>
                <a:latin typeface="Calibri" pitchFamily="34" charset="0"/>
                <a:ea typeface="Calibri" pitchFamily="34" charset="-122"/>
                <a:cs typeface="Calibri" pitchFamily="34" charset="-120"/>
              </a:rPr>
              <a:t>normal</a:t>
            </a:r>
            <a:endParaRPr lang="en-US" sz="950" dirty="0"/>
          </a:p>
        </p:txBody>
      </p:sp>
      <p:sp>
        <p:nvSpPr>
          <p:cNvPr id="8" name="Shape 6"/>
          <p:cNvSpPr/>
          <p:nvPr/>
        </p:nvSpPr>
        <p:spPr>
          <a:xfrm>
            <a:off x="8869680" y="2011680"/>
            <a:ext cx="1920240" cy="1005840"/>
          </a:xfrm>
          <a:prstGeom prst="roundRect">
            <a:avLst>
              <a:gd name="adj" fmla="val 50000"/>
            </a:avLst>
          </a:prstGeom>
          <a:solidFill>
            <a:srgbClr val="FBEAE9"/>
          </a:solidFill>
          <a:ln w="25400">
            <a:solidFill>
              <a:srgbClr val="B3261E"/>
            </a:solidFill>
            <a:prstDash val="solid"/>
          </a:ln>
        </p:spPr>
      </p:sp>
      <p:sp>
        <p:nvSpPr>
          <p:cNvPr id="9" name="Text 7"/>
          <p:cNvSpPr/>
          <p:nvPr/>
        </p:nvSpPr>
        <p:spPr>
          <a:xfrm>
            <a:off x="8869680" y="2121408"/>
            <a:ext cx="1920240" cy="365760"/>
          </a:xfrm>
          <a:prstGeom prst="rect">
            <a:avLst/>
          </a:prstGeom>
          <a:noFill/>
          <a:ln/>
        </p:spPr>
        <p:txBody>
          <a:bodyPr wrap="square" rtlCol="0" anchor="ctr"/>
          <a:lstStyle/>
          <a:p>
            <a:pPr algn="ctr" indent="0" marL="0">
              <a:buNone/>
            </a:pPr>
            <a:r>
              <a:rPr lang="en-US" sz="1500" b="1" dirty="0">
                <a:solidFill>
                  <a:srgbClr val="B3261E"/>
                </a:solidFill>
                <a:latin typeface="Cambria" pitchFamily="34" charset="0"/>
                <a:ea typeface="Cambria" pitchFamily="34" charset="-122"/>
                <a:cs typeface="Cambria" pitchFamily="34" charset="-120"/>
              </a:rPr>
              <a:t>OPEN</a:t>
            </a:r>
            <a:endParaRPr lang="en-US" sz="1500" dirty="0"/>
          </a:p>
        </p:txBody>
      </p:sp>
      <p:sp>
        <p:nvSpPr>
          <p:cNvPr id="10" name="Text 8"/>
          <p:cNvSpPr/>
          <p:nvPr/>
        </p:nvSpPr>
        <p:spPr>
          <a:xfrm>
            <a:off x="8961120" y="2468880"/>
            <a:ext cx="1737360" cy="502920"/>
          </a:xfrm>
          <a:prstGeom prst="rect">
            <a:avLst/>
          </a:prstGeom>
          <a:noFill/>
          <a:ln/>
        </p:spPr>
        <p:txBody>
          <a:bodyPr wrap="square"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Rechaza de inmediato</a:t>
            </a:r>
            <a:endParaRPr lang="en-US" sz="950" dirty="0"/>
          </a:p>
          <a:p>
            <a:pPr algn="ctr" indent="0" marL="0">
              <a:buNone/>
            </a:pPr>
            <a:r>
              <a:rPr lang="en-US" sz="950" dirty="0">
                <a:solidFill>
                  <a:srgbClr val="1F2937"/>
                </a:solidFill>
                <a:latin typeface="Calibri" pitchFamily="34" charset="0"/>
                <a:ea typeface="Calibri" pitchFamily="34" charset="-122"/>
                <a:cs typeface="Calibri" pitchFamily="34" charset="-120"/>
              </a:rPr>
              <a:t>(fallback)</a:t>
            </a:r>
            <a:endParaRPr lang="en-US" sz="950" dirty="0"/>
          </a:p>
        </p:txBody>
      </p:sp>
      <p:sp>
        <p:nvSpPr>
          <p:cNvPr id="11" name="Shape 9"/>
          <p:cNvSpPr/>
          <p:nvPr/>
        </p:nvSpPr>
        <p:spPr>
          <a:xfrm>
            <a:off x="5120640" y="4480560"/>
            <a:ext cx="1920240" cy="1005840"/>
          </a:xfrm>
          <a:prstGeom prst="roundRect">
            <a:avLst>
              <a:gd name="adj" fmla="val 50000"/>
            </a:avLst>
          </a:prstGeom>
          <a:solidFill>
            <a:srgbClr val="FBF2DC"/>
          </a:solidFill>
          <a:ln w="25400">
            <a:solidFill>
              <a:srgbClr val="9A6B00"/>
            </a:solidFill>
            <a:prstDash val="solid"/>
          </a:ln>
        </p:spPr>
      </p:sp>
      <p:sp>
        <p:nvSpPr>
          <p:cNvPr id="12" name="Text 10"/>
          <p:cNvSpPr/>
          <p:nvPr/>
        </p:nvSpPr>
        <p:spPr>
          <a:xfrm>
            <a:off x="5120640" y="4590288"/>
            <a:ext cx="1920240" cy="365760"/>
          </a:xfrm>
          <a:prstGeom prst="rect">
            <a:avLst/>
          </a:prstGeom>
          <a:noFill/>
          <a:ln/>
        </p:spPr>
        <p:txBody>
          <a:bodyPr wrap="square" rtlCol="0" anchor="ctr"/>
          <a:lstStyle/>
          <a:p>
            <a:pPr algn="ctr" indent="0" marL="0">
              <a:buNone/>
            </a:pPr>
            <a:r>
              <a:rPr lang="en-US" sz="1500" b="1" dirty="0">
                <a:solidFill>
                  <a:srgbClr val="9A6B00"/>
                </a:solidFill>
                <a:latin typeface="Cambria" pitchFamily="34" charset="0"/>
                <a:ea typeface="Cambria" pitchFamily="34" charset="-122"/>
                <a:cs typeface="Cambria" pitchFamily="34" charset="-120"/>
              </a:rPr>
              <a:t>HALF_OPEN</a:t>
            </a:r>
            <a:endParaRPr lang="en-US" sz="1500" dirty="0"/>
          </a:p>
        </p:txBody>
      </p:sp>
      <p:sp>
        <p:nvSpPr>
          <p:cNvPr id="13" name="Text 11"/>
          <p:cNvSpPr/>
          <p:nvPr/>
        </p:nvSpPr>
        <p:spPr>
          <a:xfrm>
            <a:off x="5212080" y="4937760"/>
            <a:ext cx="1737360" cy="502920"/>
          </a:xfrm>
          <a:prstGeom prst="rect">
            <a:avLst/>
          </a:prstGeom>
          <a:noFill/>
          <a:ln/>
        </p:spPr>
        <p:txBody>
          <a:bodyPr wrap="square"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Deja pasar algunas</a:t>
            </a:r>
            <a:endParaRPr lang="en-US" sz="950" dirty="0"/>
          </a:p>
          <a:p>
            <a:pPr algn="ctr" indent="0" marL="0">
              <a:buNone/>
            </a:pPr>
            <a:r>
              <a:rPr lang="en-US" sz="950" dirty="0">
                <a:solidFill>
                  <a:srgbClr val="1F2937"/>
                </a:solidFill>
                <a:latin typeface="Calibri" pitchFamily="34" charset="0"/>
                <a:ea typeface="Calibri" pitchFamily="34" charset="-122"/>
                <a:cs typeface="Calibri" pitchFamily="34" charset="-120"/>
              </a:rPr>
              <a:t>llamadas de prueba</a:t>
            </a:r>
            <a:endParaRPr lang="en-US" sz="950" dirty="0"/>
          </a:p>
        </p:txBody>
      </p:sp>
      <p:sp>
        <p:nvSpPr>
          <p:cNvPr id="14" name="Shape 12"/>
          <p:cNvSpPr/>
          <p:nvPr/>
        </p:nvSpPr>
        <p:spPr>
          <a:xfrm>
            <a:off x="3291840" y="2514600"/>
            <a:ext cx="5577840" cy="0"/>
          </a:xfrm>
          <a:prstGeom prst="line">
            <a:avLst/>
          </a:prstGeom>
          <a:noFill/>
          <a:ln w="25400">
            <a:solidFill>
              <a:srgbClr val="141B3F"/>
            </a:solidFill>
            <a:prstDash val="solid"/>
            <a:tailEnd type="triangle"/>
          </a:ln>
        </p:spPr>
      </p:sp>
      <p:sp>
        <p:nvSpPr>
          <p:cNvPr id="15" name="Text 13"/>
          <p:cNvSpPr/>
          <p:nvPr/>
        </p:nvSpPr>
        <p:spPr>
          <a:xfrm>
            <a:off x="3291840" y="1444752"/>
            <a:ext cx="5577840" cy="502920"/>
          </a:xfrm>
          <a:prstGeom prst="rect">
            <a:avLst/>
          </a:prstGeom>
          <a:noFill/>
          <a:ln/>
        </p:spPr>
        <p:txBody>
          <a:bodyPr wrap="square"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Tasa de fallos supera el umbral</a:t>
            </a:r>
            <a:endParaRPr lang="en-US" sz="950" dirty="0"/>
          </a:p>
          <a:p>
            <a:pPr algn="ctr" indent="0" marL="0">
              <a:buNone/>
            </a:pPr>
            <a:r>
              <a:rPr lang="en-US" sz="950" i="1" dirty="0">
                <a:solidFill>
                  <a:srgbClr val="5B6472"/>
                </a:solidFill>
                <a:latin typeface="Calibri" pitchFamily="34" charset="0"/>
                <a:ea typeface="Calibri" pitchFamily="34" charset="-122"/>
                <a:cs typeface="Calibri" pitchFamily="34" charset="-120"/>
              </a:rPr>
              <a:t>(ej. 50% en la ventana de 10 llamadas)</a:t>
            </a:r>
            <a:endParaRPr lang="en-US" sz="950" dirty="0"/>
          </a:p>
        </p:txBody>
      </p:sp>
      <p:sp>
        <p:nvSpPr>
          <p:cNvPr id="16" name="Shape 14"/>
          <p:cNvSpPr/>
          <p:nvPr/>
        </p:nvSpPr>
        <p:spPr>
          <a:xfrm>
            <a:off x="7086600" y="4434840"/>
            <a:ext cx="2103120" cy="-1417320"/>
          </a:xfrm>
          <a:prstGeom prst="line">
            <a:avLst/>
          </a:prstGeom>
          <a:noFill/>
          <a:ln w="25400">
            <a:solidFill>
              <a:srgbClr val="141B3F"/>
            </a:solidFill>
            <a:prstDash val="solid"/>
            <a:tailEnd type="triangle"/>
          </a:ln>
        </p:spPr>
      </p:sp>
      <p:sp>
        <p:nvSpPr>
          <p:cNvPr id="17" name="Text 15"/>
          <p:cNvSpPr/>
          <p:nvPr/>
        </p:nvSpPr>
        <p:spPr>
          <a:xfrm>
            <a:off x="6903720" y="3657600"/>
            <a:ext cx="1737360" cy="502920"/>
          </a:xfrm>
          <a:prstGeom prst="rect">
            <a:avLst/>
          </a:prstGeom>
          <a:noFill/>
          <a:ln/>
        </p:spPr>
        <p:txBody>
          <a:bodyPr wrap="square"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Se cumple el tiempo</a:t>
            </a:r>
            <a:endParaRPr lang="en-US" sz="950" dirty="0"/>
          </a:p>
          <a:p>
            <a:pPr algn="ctr" indent="0" marL="0">
              <a:buNone/>
            </a:pPr>
            <a:r>
              <a:rPr lang="en-US" sz="950" i="1" dirty="0">
                <a:solidFill>
                  <a:srgbClr val="5B6472"/>
                </a:solidFill>
                <a:latin typeface="Calibri" pitchFamily="34" charset="0"/>
                <a:ea typeface="Calibri" pitchFamily="34" charset="-122"/>
                <a:cs typeface="Calibri" pitchFamily="34" charset="-120"/>
              </a:rPr>
              <a:t>de espera (ej. 10s)</a:t>
            </a:r>
            <a:endParaRPr lang="en-US" sz="950" dirty="0"/>
          </a:p>
        </p:txBody>
      </p:sp>
      <p:sp>
        <p:nvSpPr>
          <p:cNvPr id="18" name="Shape 16"/>
          <p:cNvSpPr/>
          <p:nvPr/>
        </p:nvSpPr>
        <p:spPr>
          <a:xfrm>
            <a:off x="2331720" y="3017520"/>
            <a:ext cx="2788920" cy="1554480"/>
          </a:xfrm>
          <a:prstGeom prst="line">
            <a:avLst/>
          </a:prstGeom>
          <a:noFill/>
          <a:ln w="25400">
            <a:solidFill>
              <a:srgbClr val="1F8A50"/>
            </a:solidFill>
            <a:prstDash val="solid"/>
            <a:tailEnd type="triangle"/>
          </a:ln>
        </p:spPr>
      </p:sp>
      <p:sp>
        <p:nvSpPr>
          <p:cNvPr id="19" name="Text 17"/>
          <p:cNvSpPr/>
          <p:nvPr/>
        </p:nvSpPr>
        <p:spPr>
          <a:xfrm>
            <a:off x="1965960" y="3108960"/>
            <a:ext cx="1920240" cy="502920"/>
          </a:xfrm>
          <a:prstGeom prst="rect">
            <a:avLst/>
          </a:prstGeom>
          <a:noFill/>
          <a:ln/>
        </p:spPr>
        <p:txBody>
          <a:bodyPr wrap="square" rtlCol="0" anchor="ctr"/>
          <a:lstStyle/>
          <a:p>
            <a:pPr algn="ctr" indent="0" marL="0">
              <a:buNone/>
            </a:pPr>
            <a:r>
              <a:rPr lang="en-US" sz="950" i="1" dirty="0">
                <a:solidFill>
                  <a:srgbClr val="1F8A50"/>
                </a:solidFill>
                <a:latin typeface="Calibri" pitchFamily="34" charset="0"/>
                <a:ea typeface="Calibri" pitchFamily="34" charset="-122"/>
                <a:cs typeface="Calibri" pitchFamily="34" charset="-120"/>
              </a:rPr>
              <a:t>Las llamadas de prueba</a:t>
            </a:r>
            <a:endParaRPr lang="en-US" sz="950" dirty="0"/>
          </a:p>
          <a:p>
            <a:pPr algn="ctr" indent="0" marL="0">
              <a:buNone/>
            </a:pPr>
            <a:r>
              <a:rPr lang="en-US" sz="950" i="1" dirty="0">
                <a:solidFill>
                  <a:srgbClr val="1F8A50"/>
                </a:solidFill>
                <a:latin typeface="Calibri" pitchFamily="34" charset="0"/>
                <a:ea typeface="Calibri" pitchFamily="34" charset="-122"/>
                <a:cs typeface="Calibri" pitchFamily="34" charset="-120"/>
              </a:rPr>
              <a:t>tienen éxito</a:t>
            </a:r>
            <a:endParaRPr lang="en-US" sz="950" dirty="0"/>
          </a:p>
        </p:txBody>
      </p:sp>
      <p:sp>
        <p:nvSpPr>
          <p:cNvPr id="20" name="Shape 18"/>
          <p:cNvSpPr/>
          <p:nvPr/>
        </p:nvSpPr>
        <p:spPr>
          <a:xfrm>
            <a:off x="8732520" y="4617720"/>
            <a:ext cx="18288" cy="-1554480"/>
          </a:xfrm>
          <a:prstGeom prst="line">
            <a:avLst/>
          </a:prstGeom>
          <a:noFill/>
          <a:ln w="22225">
            <a:solidFill>
              <a:srgbClr val="B3261E"/>
            </a:solidFill>
            <a:prstDash val="dash"/>
            <a:tailEnd type="triangle"/>
          </a:ln>
        </p:spPr>
      </p:sp>
      <p:sp>
        <p:nvSpPr>
          <p:cNvPr id="21" name="Text 19"/>
          <p:cNvSpPr/>
          <p:nvPr/>
        </p:nvSpPr>
        <p:spPr>
          <a:xfrm>
            <a:off x="8732520" y="4846320"/>
            <a:ext cx="1463040" cy="457200"/>
          </a:xfrm>
          <a:prstGeom prst="rect">
            <a:avLst/>
          </a:prstGeom>
          <a:noFill/>
          <a:ln/>
        </p:spPr>
        <p:txBody>
          <a:bodyPr wrap="square" rtlCol="0" anchor="ctr"/>
          <a:lstStyle/>
          <a:p>
            <a:pPr algn="l" indent="0" marL="0">
              <a:buNone/>
            </a:pPr>
            <a:r>
              <a:rPr lang="en-US" sz="900" i="1" dirty="0">
                <a:solidFill>
                  <a:srgbClr val="B3261E"/>
                </a:solidFill>
                <a:latin typeface="Calibri" pitchFamily="34" charset="0"/>
                <a:ea typeface="Calibri" pitchFamily="34" charset="-122"/>
                <a:cs typeface="Calibri" pitchFamily="34" charset="-120"/>
              </a:rPr>
              <a:t>Las llamadas de</a:t>
            </a:r>
            <a:endParaRPr lang="en-US" sz="900" dirty="0"/>
          </a:p>
          <a:p>
            <a:pPr algn="l" indent="0" marL="0">
              <a:buNone/>
            </a:pPr>
            <a:r>
              <a:rPr lang="en-US" sz="900" i="1" dirty="0">
                <a:solidFill>
                  <a:srgbClr val="B3261E"/>
                </a:solidFill>
                <a:latin typeface="Calibri" pitchFamily="34" charset="0"/>
                <a:ea typeface="Calibri" pitchFamily="34" charset="-122"/>
                <a:cs typeface="Calibri" pitchFamily="34" charset="-120"/>
              </a:rPr>
              <a:t>prueba fallan</a:t>
            </a:r>
            <a:endParaRPr lang="en-US" sz="900" dirty="0"/>
          </a:p>
        </p:txBody>
      </p:sp>
      <p:sp>
        <p:nvSpPr>
          <p:cNvPr id="22" name="Shape 20"/>
          <p:cNvSpPr/>
          <p:nvPr/>
        </p:nvSpPr>
        <p:spPr>
          <a:xfrm>
            <a:off x="502920" y="5806440"/>
            <a:ext cx="11185855" cy="502920"/>
          </a:xfrm>
          <a:prstGeom prst="roundRect">
            <a:avLst>
              <a:gd name="adj" fmla="val 10909"/>
            </a:avLst>
          </a:prstGeom>
          <a:solidFill>
            <a:srgbClr val="1E2761"/>
          </a:solidFill>
          <a:ln/>
        </p:spPr>
      </p:sp>
      <p:sp>
        <p:nvSpPr>
          <p:cNvPr id="23" name="Text 21"/>
          <p:cNvSpPr/>
          <p:nvPr/>
        </p:nvSpPr>
        <p:spPr>
          <a:xfrm>
            <a:off x="685800" y="5806440"/>
            <a:ext cx="10820095" cy="50292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En el proyecto, esta máquina de estados la gestiona Resilience4j automáticamente por cada instancia de circuit breaker configurada; nuestro código nunca la manipula directamente.</a:t>
            </a:r>
            <a:endParaRPr lang="en-US" sz="1050" dirty="0"/>
          </a:p>
        </p:txBody>
      </p:sp>
      <p:sp>
        <p:nvSpPr>
          <p:cNvPr id="24" name="Text 22"/>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Máquina de estados</a:t>
            </a:r>
            <a:endParaRPr lang="en-US" sz="900" dirty="0"/>
          </a:p>
        </p:txBody>
      </p:sp>
      <p:sp>
        <p:nvSpPr>
          <p:cNvPr id="25" name="Text 23"/>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CONFIGURACIÓN</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Parámetros clave de Resilience4j</a:t>
            </a:r>
            <a:endParaRPr lang="en-US" sz="2500" dirty="0"/>
          </a:p>
        </p:txBody>
      </p:sp>
      <p:sp>
        <p:nvSpPr>
          <p:cNvPr id="4" name="Shape 2"/>
          <p:cNvSpPr/>
          <p:nvPr/>
        </p:nvSpPr>
        <p:spPr>
          <a:xfrm>
            <a:off x="502920" y="1188720"/>
            <a:ext cx="11185855" cy="10973"/>
          </a:xfrm>
          <a:prstGeom prst="rect">
            <a:avLst/>
          </a:prstGeom>
          <a:solidFill>
            <a:srgbClr val="CADCFC"/>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914400"/>
        </p:xfrm>
        <a:graphic>
          <a:graphicData uri="http://schemas.openxmlformats.org/drawingml/2006/table">
            <a:tbl>
              <a:tblPr/>
              <a:tblGrid>
                <a:gridCol w="3931920"/>
                <a:gridCol w="4937760"/>
                <a:gridCol w="231343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Parámetro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Qué controla</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Valor usado en el proyecto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r>
              <a:tr h="0">
                <a:tc>
                  <a:txBody>
                    <a:bodyPr/>
                    <a:lstStyle/>
                    <a:p>
                      <a:pPr indent="0" marL="0">
                        <a:buNone/>
                      </a:pPr>
                      <a:r>
                        <a:rPr lang="en-US" sz="950" b="1" dirty="0">
                          <a:solidFill>
                            <a:srgbClr val="1E2761"/>
                          </a:solidFill>
                          <a:latin typeface="Courier New" pitchFamily="34" charset="0"/>
                          <a:ea typeface="Courier New" pitchFamily="34" charset="-122"/>
                          <a:cs typeface="Courier New" pitchFamily="34" charset="-120"/>
                        </a:rPr>
                        <a:t>sliding-window-size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Cuántas llamadas recientes se evalúan para calcular la tasa de fallos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10 llamadas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ourier New" pitchFamily="34" charset="0"/>
                          <a:ea typeface="Courier New" pitchFamily="34" charset="-122"/>
                          <a:cs typeface="Courier New" pitchFamily="34" charset="-120"/>
                        </a:rPr>
                        <a:t>failure-rate-threshold</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Porcentaje de fallos que dispara la apertura del circuito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r>
              <a:tr h="0">
                <a:tc>
                  <a:txBody>
                    <a:bodyPr/>
                    <a:lstStyle/>
                    <a:p>
                      <a:pPr indent="0" marL="0">
                        <a:buNone/>
                      </a:pPr>
                      <a:r>
                        <a:rPr lang="en-US" sz="950" b="1" dirty="0">
                          <a:solidFill>
                            <a:srgbClr val="1E2761"/>
                          </a:solidFill>
                          <a:latin typeface="Courier New" pitchFamily="34" charset="0"/>
                          <a:ea typeface="Courier New" pitchFamily="34" charset="-122"/>
                          <a:cs typeface="Courier New" pitchFamily="34" charset="-120"/>
                        </a:rPr>
                        <a:t>wait-duration-in-open-state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Cuánto tiempo permanece abierto antes de pasar a HALF_OPEN</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10 segundos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ourier New" pitchFamily="34" charset="0"/>
                          <a:ea typeface="Courier New" pitchFamily="34" charset="-122"/>
                          <a:cs typeface="Courier New" pitchFamily="34" charset="-120"/>
                        </a:rPr>
                        <a:t>permitted-number-of-calls-in-half-open-state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Cuántas llamadas de prueba se permiten en HALF_OPEN</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3 llamadas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r>
              <a:tr h="0">
                <a:tc>
                  <a:txBody>
                    <a:bodyPr/>
                    <a:lstStyle/>
                    <a:p>
                      <a:pPr indent="0" marL="0">
                        <a:buNone/>
                      </a:pPr>
                      <a:r>
                        <a:rPr lang="en-US" sz="950" b="1" dirty="0">
                          <a:solidFill>
                            <a:srgbClr val="1E2761"/>
                          </a:solidFill>
                          <a:latin typeface="Courier New" pitchFamily="34" charset="0"/>
                          <a:ea typeface="Courier New" pitchFamily="34" charset="-122"/>
                          <a:cs typeface="Courier New" pitchFamily="34" charset="-120"/>
                        </a:rPr>
                        <a:t>timelimiter.timeout-duration</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Tiempo máximo de espera de una llamada antes de contarla como fallo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b="1" dirty="0">
                          <a:solidFill>
                            <a:srgbClr val="C9A227"/>
                          </a:solidFill>
                          <a:latin typeface="Calibri" pitchFamily="34" charset="0"/>
                          <a:ea typeface="Calibri" pitchFamily="34" charset="-122"/>
                          <a:cs typeface="Calibri" pitchFamily="34" charset="-120"/>
                        </a:rPr>
                        <a:t>2 segundos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977640"/>
            <a:ext cx="11185855" cy="2331720"/>
          </a:xfrm>
          <a:prstGeom prst="roundRect">
            <a:avLst>
              <a:gd name="adj" fmla="val 3137"/>
            </a:avLst>
          </a:prstGeom>
          <a:solidFill>
            <a:srgbClr val="141B3F"/>
          </a:solidFill>
          <a:ln/>
        </p:spPr>
      </p:sp>
      <p:sp>
        <p:nvSpPr>
          <p:cNvPr id="7" name="Text 4"/>
          <p:cNvSpPr/>
          <p:nvPr/>
        </p:nvSpPr>
        <p:spPr>
          <a:xfrm>
            <a:off x="777240" y="4114800"/>
            <a:ext cx="5486400" cy="274320"/>
          </a:xfrm>
          <a:prstGeom prst="rect">
            <a:avLst/>
          </a:prstGeom>
          <a:noFill/>
          <a:ln/>
        </p:spPr>
        <p:txBody>
          <a:bodyPr wrap="square" rtlCol="0" anchor="ctr"/>
          <a:lstStyle/>
          <a:p>
            <a:pPr indent="0" marL="0">
              <a:buNone/>
            </a:pPr>
            <a:r>
              <a:rPr lang="en-US" sz="1000" b="1" dirty="0">
                <a:solidFill>
                  <a:srgbClr val="C9A227"/>
                </a:solidFill>
                <a:latin typeface="Courier New" pitchFamily="34" charset="0"/>
                <a:ea typeface="Courier New" pitchFamily="34" charset="-122"/>
                <a:cs typeface="Courier New" pitchFamily="34" charset="-120"/>
              </a:rPr>
              <a:t>application.yml (config-repo)</a:t>
            </a:r>
            <a:endParaRPr lang="en-US" sz="1000" dirty="0"/>
          </a:p>
        </p:txBody>
      </p:sp>
      <p:sp>
        <p:nvSpPr>
          <p:cNvPr id="8" name="Text 5"/>
          <p:cNvSpPr/>
          <p:nvPr/>
        </p:nvSpPr>
        <p:spPr>
          <a:xfrm>
            <a:off x="777240" y="4407408"/>
            <a:ext cx="10637215" cy="1828800"/>
          </a:xfrm>
          <a:prstGeom prst="rect">
            <a:avLst/>
          </a:prstGeom>
          <a:noFill/>
          <a:ln/>
        </p:spPr>
        <p:txBody>
          <a:bodyPr wrap="square" rtlCol="0" anchor="ctr"/>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resilience4j:</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timelimiter:</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configs:</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default: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timeout-duration: 2s</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circuitbreaker:</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configs:</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default: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sliding-window-size: 10</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failure-rate-threshold: 50</a:t>
            </a:r>
            <a:endParaRPr lang="en-US" sz="950" dirty="0"/>
          </a:p>
        </p:txBody>
      </p:sp>
      <p:sp>
        <p:nvSpPr>
          <p:cNvPr id="9" name="Text 6"/>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Configuración</a:t>
            </a:r>
            <a:endParaRPr lang="en-US" sz="900" dirty="0"/>
          </a:p>
        </p:txBody>
      </p:sp>
      <p:sp>
        <p:nvSpPr>
          <p:cNvPr id="10" name="Text 7"/>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PATRONES COMPLEMENTARIOS</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Circuit Breaker no trabaja solo</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63040"/>
            <a:ext cx="3545738" cy="2834640"/>
          </a:xfrm>
          <a:prstGeom prst="roundRect">
            <a:avLst>
              <a:gd name="adj" fmla="val 2903"/>
            </a:avLst>
          </a:prstGeom>
          <a:solidFill>
            <a:srgbClr val="FFFFFF"/>
          </a:solidFill>
          <a:ln w="15875">
            <a:solidFill>
              <a:srgbClr val="CADCFC"/>
            </a:solidFill>
            <a:prstDash val="solid"/>
          </a:ln>
        </p:spPr>
      </p:sp>
      <p:sp>
        <p:nvSpPr>
          <p:cNvPr id="6" name="Shape 4"/>
          <p:cNvSpPr/>
          <p:nvPr/>
        </p:nvSpPr>
        <p:spPr>
          <a:xfrm>
            <a:off x="502920" y="1463040"/>
            <a:ext cx="3545738" cy="457200"/>
          </a:xfrm>
          <a:prstGeom prst="roundRect">
            <a:avLst>
              <a:gd name="adj" fmla="val 18000"/>
            </a:avLst>
          </a:prstGeom>
          <a:solidFill>
            <a:srgbClr val="C9A227"/>
          </a:solidFill>
          <a:ln/>
        </p:spPr>
      </p:sp>
      <p:sp>
        <p:nvSpPr>
          <p:cNvPr id="7" name="Text 5"/>
          <p:cNvSpPr/>
          <p:nvPr/>
        </p:nvSpPr>
        <p:spPr>
          <a:xfrm>
            <a:off x="502920" y="1463040"/>
            <a:ext cx="3545738"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Timeout</a:t>
            </a:r>
            <a:endParaRPr lang="en-US" sz="1350" dirty="0"/>
          </a:p>
        </p:txBody>
      </p:sp>
      <p:sp>
        <p:nvSpPr>
          <p:cNvPr id="8" name="Text 6"/>
          <p:cNvSpPr/>
          <p:nvPr/>
        </p:nvSpPr>
        <p:spPr>
          <a:xfrm>
            <a:off x="704088" y="2057400"/>
            <a:ext cx="3143402" cy="105156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Limita cuánto tiempo se espera una respuesta antes de darla por fallida.</a:t>
            </a:r>
            <a:endParaRPr lang="en-US" sz="1100" dirty="0"/>
          </a:p>
        </p:txBody>
      </p:sp>
      <p:sp>
        <p:nvSpPr>
          <p:cNvPr id="9" name="Shape 7"/>
          <p:cNvSpPr/>
          <p:nvPr/>
        </p:nvSpPr>
        <p:spPr>
          <a:xfrm>
            <a:off x="704088" y="3154680"/>
            <a:ext cx="3143402" cy="10973"/>
          </a:xfrm>
          <a:prstGeom prst="rect">
            <a:avLst/>
          </a:prstGeom>
          <a:solidFill>
            <a:srgbClr val="CADCFC"/>
          </a:solidFill>
          <a:ln/>
        </p:spPr>
      </p:sp>
      <p:sp>
        <p:nvSpPr>
          <p:cNvPr id="10" name="Text 8"/>
          <p:cNvSpPr/>
          <p:nvPr/>
        </p:nvSpPr>
        <p:spPr>
          <a:xfrm>
            <a:off x="704088" y="3291840"/>
            <a:ext cx="3143402" cy="91440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Sin esto, una llamada colgada nunca cuenta como “fallo” para el circuit breaker.</a:t>
            </a:r>
            <a:endParaRPr lang="en-US" sz="1000" dirty="0"/>
          </a:p>
        </p:txBody>
      </p:sp>
      <p:sp>
        <p:nvSpPr>
          <p:cNvPr id="11" name="Shape 9"/>
          <p:cNvSpPr/>
          <p:nvPr/>
        </p:nvSpPr>
        <p:spPr>
          <a:xfrm>
            <a:off x="4322978" y="1463040"/>
            <a:ext cx="3545738" cy="2834640"/>
          </a:xfrm>
          <a:prstGeom prst="roundRect">
            <a:avLst>
              <a:gd name="adj" fmla="val 2903"/>
            </a:avLst>
          </a:prstGeom>
          <a:solidFill>
            <a:srgbClr val="FFFFFF"/>
          </a:solidFill>
          <a:ln w="15875">
            <a:solidFill>
              <a:srgbClr val="CADCFC"/>
            </a:solidFill>
            <a:prstDash val="solid"/>
          </a:ln>
        </p:spPr>
      </p:sp>
      <p:sp>
        <p:nvSpPr>
          <p:cNvPr id="12" name="Shape 10"/>
          <p:cNvSpPr/>
          <p:nvPr/>
        </p:nvSpPr>
        <p:spPr>
          <a:xfrm>
            <a:off x="4322978" y="1463040"/>
            <a:ext cx="3545738" cy="457200"/>
          </a:xfrm>
          <a:prstGeom prst="roundRect">
            <a:avLst>
              <a:gd name="adj" fmla="val 18000"/>
            </a:avLst>
          </a:prstGeom>
          <a:solidFill>
            <a:srgbClr val="1E2761"/>
          </a:solidFill>
          <a:ln/>
        </p:spPr>
      </p:sp>
      <p:sp>
        <p:nvSpPr>
          <p:cNvPr id="13" name="Text 11"/>
          <p:cNvSpPr/>
          <p:nvPr/>
        </p:nvSpPr>
        <p:spPr>
          <a:xfrm>
            <a:off x="4322978" y="1463040"/>
            <a:ext cx="3545738"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Circuit Breaker</a:t>
            </a:r>
            <a:endParaRPr lang="en-US" sz="1350" dirty="0"/>
          </a:p>
        </p:txBody>
      </p:sp>
      <p:sp>
        <p:nvSpPr>
          <p:cNvPr id="14" name="Text 12"/>
          <p:cNvSpPr/>
          <p:nvPr/>
        </p:nvSpPr>
        <p:spPr>
          <a:xfrm>
            <a:off x="4524146" y="2057400"/>
            <a:ext cx="3143402" cy="105156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Deja de intentar llamar a un servicio que está fallando repetidamente.</a:t>
            </a:r>
            <a:endParaRPr lang="en-US" sz="1100" dirty="0"/>
          </a:p>
        </p:txBody>
      </p:sp>
      <p:sp>
        <p:nvSpPr>
          <p:cNvPr id="15" name="Shape 13"/>
          <p:cNvSpPr/>
          <p:nvPr/>
        </p:nvSpPr>
        <p:spPr>
          <a:xfrm>
            <a:off x="4524146" y="3154680"/>
            <a:ext cx="3143402" cy="10973"/>
          </a:xfrm>
          <a:prstGeom prst="rect">
            <a:avLst/>
          </a:prstGeom>
          <a:solidFill>
            <a:srgbClr val="CADCFC"/>
          </a:solidFill>
          <a:ln/>
        </p:spPr>
      </p:sp>
      <p:sp>
        <p:nvSpPr>
          <p:cNvPr id="16" name="Text 14"/>
          <p:cNvSpPr/>
          <p:nvPr/>
        </p:nvSpPr>
        <p:spPr>
          <a:xfrm>
            <a:off x="4524146" y="3291840"/>
            <a:ext cx="3143402" cy="91440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Es el que corta la cadena de fallos y protege al que llama.</a:t>
            </a:r>
            <a:endParaRPr lang="en-US" sz="1000" dirty="0"/>
          </a:p>
        </p:txBody>
      </p:sp>
      <p:sp>
        <p:nvSpPr>
          <p:cNvPr id="17" name="Shape 15"/>
          <p:cNvSpPr/>
          <p:nvPr/>
        </p:nvSpPr>
        <p:spPr>
          <a:xfrm>
            <a:off x="8143037" y="1463040"/>
            <a:ext cx="3545738" cy="2834640"/>
          </a:xfrm>
          <a:prstGeom prst="roundRect">
            <a:avLst>
              <a:gd name="adj" fmla="val 2903"/>
            </a:avLst>
          </a:prstGeom>
          <a:solidFill>
            <a:srgbClr val="FFFFFF"/>
          </a:solidFill>
          <a:ln w="15875">
            <a:solidFill>
              <a:srgbClr val="CADCFC"/>
            </a:solidFill>
            <a:prstDash val="solid"/>
          </a:ln>
        </p:spPr>
      </p:sp>
      <p:sp>
        <p:nvSpPr>
          <p:cNvPr id="18" name="Shape 16"/>
          <p:cNvSpPr/>
          <p:nvPr/>
        </p:nvSpPr>
        <p:spPr>
          <a:xfrm>
            <a:off x="8143037" y="1463040"/>
            <a:ext cx="3545738" cy="457200"/>
          </a:xfrm>
          <a:prstGeom prst="roundRect">
            <a:avLst>
              <a:gd name="adj" fmla="val 18000"/>
            </a:avLst>
          </a:prstGeom>
          <a:solidFill>
            <a:srgbClr val="9A6B00"/>
          </a:solidFill>
          <a:ln/>
        </p:spPr>
      </p:sp>
      <p:sp>
        <p:nvSpPr>
          <p:cNvPr id="19" name="Text 17"/>
          <p:cNvSpPr/>
          <p:nvPr/>
        </p:nvSpPr>
        <p:spPr>
          <a:xfrm>
            <a:off x="8143037" y="1463040"/>
            <a:ext cx="3545738"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Retry</a:t>
            </a:r>
            <a:endParaRPr lang="en-US" sz="1350" dirty="0"/>
          </a:p>
        </p:txBody>
      </p:sp>
      <p:sp>
        <p:nvSpPr>
          <p:cNvPr id="20" name="Text 18"/>
          <p:cNvSpPr/>
          <p:nvPr/>
        </p:nvSpPr>
        <p:spPr>
          <a:xfrm>
            <a:off x="8344205" y="2057400"/>
            <a:ext cx="3143402" cy="105156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Reintenta una operación que falló, generalmente con backoff.</a:t>
            </a:r>
            <a:endParaRPr lang="en-US" sz="1100" dirty="0"/>
          </a:p>
        </p:txBody>
      </p:sp>
      <p:sp>
        <p:nvSpPr>
          <p:cNvPr id="21" name="Shape 19"/>
          <p:cNvSpPr/>
          <p:nvPr/>
        </p:nvSpPr>
        <p:spPr>
          <a:xfrm>
            <a:off x="8344205" y="3154680"/>
            <a:ext cx="3143402" cy="10973"/>
          </a:xfrm>
          <a:prstGeom prst="rect">
            <a:avLst/>
          </a:prstGeom>
          <a:solidFill>
            <a:srgbClr val="CADCFC"/>
          </a:solidFill>
          <a:ln/>
        </p:spPr>
      </p:sp>
      <p:sp>
        <p:nvSpPr>
          <p:cNvPr id="22" name="Text 20"/>
          <p:cNvSpPr/>
          <p:nvPr/>
        </p:nvSpPr>
        <p:spPr>
          <a:xfrm>
            <a:off x="8344205" y="3291840"/>
            <a:ext cx="3143402" cy="91440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Debe usarse con cuidado: reintentar sin límite empeora una sobrecarga.</a:t>
            </a:r>
            <a:endParaRPr lang="en-US" sz="1000" dirty="0"/>
          </a:p>
        </p:txBody>
      </p:sp>
      <p:sp>
        <p:nvSpPr>
          <p:cNvPr id="23" name="Shape 21"/>
          <p:cNvSpPr/>
          <p:nvPr/>
        </p:nvSpPr>
        <p:spPr>
          <a:xfrm>
            <a:off x="502920" y="4526280"/>
            <a:ext cx="11185855" cy="1417320"/>
          </a:xfrm>
          <a:prstGeom prst="roundRect">
            <a:avLst>
              <a:gd name="adj" fmla="val 5161"/>
            </a:avLst>
          </a:prstGeom>
          <a:solidFill>
            <a:srgbClr val="EDF2FC"/>
          </a:solidFill>
          <a:ln w="12700">
            <a:solidFill>
              <a:srgbClr val="CADCFC"/>
            </a:solidFill>
            <a:prstDash val="solid"/>
          </a:ln>
        </p:spPr>
      </p:sp>
      <p:sp>
        <p:nvSpPr>
          <p:cNvPr id="24" name="Text 22"/>
          <p:cNvSpPr/>
          <p:nvPr/>
        </p:nvSpPr>
        <p:spPr>
          <a:xfrm>
            <a:off x="777240" y="4526280"/>
            <a:ext cx="10637215" cy="14173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En el proyecto se usan juntos: el TimeLimiter de Resilience4j define el timeout de 2 segundos, y si una llamada lo excede (o falla por otra razón), esa llamada cuenta como fallo para el Circuit Breaker. No se implementó Retry automático en las llamadas entre microservicios, a propósito, para no amplificar la carga sobre un servicio que ya está fallando — en su lugar, se prefirió el fallback inmediato.</a:t>
            </a:r>
            <a:endParaRPr lang="en-US" sz="1150" dirty="0"/>
          </a:p>
        </p:txBody>
      </p:sp>
      <p:sp>
        <p:nvSpPr>
          <p:cNvPr id="25" name="Text 23"/>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Patrones complementarios</a:t>
            </a:r>
            <a:endParaRPr lang="en-US" sz="900" dirty="0"/>
          </a:p>
        </p:txBody>
      </p:sp>
      <p:sp>
        <p:nvSpPr>
          <p:cNvPr id="26" name="Text 24"/>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HERRAMIENTA</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Por qué Resilience4j</a:t>
            </a:r>
            <a:endParaRPr lang="en-US" sz="2500" dirty="0"/>
          </a:p>
        </p:txBody>
      </p:sp>
      <p:sp>
        <p:nvSpPr>
          <p:cNvPr id="4" name="Shape 2"/>
          <p:cNvSpPr/>
          <p:nvPr/>
        </p:nvSpPr>
        <p:spPr>
          <a:xfrm>
            <a:off x="502920" y="1188720"/>
            <a:ext cx="11185855" cy="10973"/>
          </a:xfrm>
          <a:prstGeom prst="rect">
            <a:avLst/>
          </a:prstGeom>
          <a:solidFill>
            <a:srgbClr val="CADCFC"/>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5855" cy="914400"/>
        </p:xfrm>
        <a:graphic>
          <a:graphicData uri="http://schemas.openxmlformats.org/drawingml/2006/table">
            <a:tbl>
              <a:tblPr/>
              <a:tblGrid>
                <a:gridCol w="3291840"/>
                <a:gridCol w="4206240"/>
                <a:gridCol w="3685032"/>
              </a:tblGrid>
              <a:tr h="0">
                <a:tc>
                  <a:txBody>
                    <a:bodyPr/>
                    <a:lstStyle/>
                    <a:p>
                      <a:pPr indent="0" marL="0">
                        <a:buNone/>
                      </a:pPr>
                      <a:endParaRPr lang="en-US" sz="110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Resilience4j</a:t>
                      </a:r>
                      <a:endParaRPr lang="en-US" sz="110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Netflix Hystrix</a:t>
                      </a:r>
                      <a:endParaRPr lang="en-US" sz="110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r>
              <a:tr h="0">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Estado del proyecto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8A50"/>
                          </a:solidFill>
                          <a:latin typeface="Calibri" pitchFamily="34" charset="0"/>
                          <a:ea typeface="Calibri" pitchFamily="34" charset="-122"/>
                          <a:cs typeface="Calibri" pitchFamily="34" charset="-120"/>
                        </a:rPr>
                        <a:t>Activo y mantenido</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5B6472"/>
                          </a:solidFill>
                          <a:latin typeface="Calibri" pitchFamily="34" charset="0"/>
                          <a:ea typeface="Calibri" pitchFamily="34" charset="-122"/>
                          <a:cs typeface="Calibri" pitchFamily="34" charset="-120"/>
                        </a:rPr>
                        <a:t>En modo mantenimiento desde 2018</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Paradigma</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1F8A50"/>
                          </a:solidFill>
                          <a:latin typeface="Calibri" pitchFamily="34" charset="0"/>
                          <a:ea typeface="Calibri" pitchFamily="34" charset="-122"/>
                          <a:cs typeface="Calibri" pitchFamily="34" charset="-120"/>
                        </a:rPr>
                        <a:t>Funcional, basado en decoradores composables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5B6472"/>
                          </a:solidFill>
                          <a:latin typeface="Calibri" pitchFamily="34" charset="0"/>
                          <a:ea typeface="Calibri" pitchFamily="34" charset="-122"/>
                          <a:cs typeface="Calibri" pitchFamily="34" charset="-120"/>
                        </a:rPr>
                        <a:t>Basado en hilos/comandos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r>
              <a:tr h="0">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Integración reactiva</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8A50"/>
                          </a:solidFill>
                          <a:latin typeface="Calibri" pitchFamily="34" charset="0"/>
                          <a:ea typeface="Calibri" pitchFamily="34" charset="-122"/>
                          <a:cs typeface="Calibri" pitchFamily="34" charset="-120"/>
                        </a:rPr>
                        <a:t>Nativa con Reactor (Mono/Flux) vía CircuitBreakerOperator</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5B6472"/>
                          </a:solidFill>
                          <a:latin typeface="Calibri" pitchFamily="34" charset="0"/>
                          <a:ea typeface="Calibri" pitchFamily="34" charset="-122"/>
                          <a:cs typeface="Calibri" pitchFamily="34" charset="-120"/>
                        </a:rPr>
                        <a:t>Requiere adaptadores adicionales</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Integración con Spring Cloud</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1F8A50"/>
                          </a:solidFill>
                          <a:latin typeface="Calibri" pitchFamily="34" charset="0"/>
                          <a:ea typeface="Calibri" pitchFamily="34" charset="-122"/>
                          <a:cs typeface="Calibri" pitchFamily="34" charset="-120"/>
                        </a:rPr>
                        <a:t>Oficial: spring-cloud-starter-circuitbreaker-resilience4j</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indent="0" marL="0">
                        <a:buNone/>
                      </a:pPr>
                      <a:r>
                        <a:rPr lang="en-US" sz="1050" dirty="0">
                          <a:solidFill>
                            <a:srgbClr val="5B6472"/>
                          </a:solidFill>
                          <a:latin typeface="Calibri" pitchFamily="34" charset="0"/>
                          <a:ea typeface="Calibri" pitchFamily="34" charset="-122"/>
                          <a:cs typeface="Calibri" pitchFamily="34" charset="-120"/>
                        </a:rPr>
                        <a:t>Deprecado en Spring Cloud</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r>
              <a:tr h="0">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Overhead</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1F8A50"/>
                          </a:solidFill>
                          <a:latin typeface="Calibri" pitchFamily="34" charset="0"/>
                          <a:ea typeface="Calibri" pitchFamily="34" charset="-122"/>
                          <a:cs typeface="Calibri" pitchFamily="34" charset="-120"/>
                        </a:rPr>
                        <a:t>Ligero, sin dependencia de RxJava 1</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indent="0" marL="0">
                        <a:buNone/>
                      </a:pPr>
                      <a:r>
                        <a:rPr lang="en-US" sz="1050" dirty="0">
                          <a:solidFill>
                            <a:srgbClr val="5B6472"/>
                          </a:solidFill>
                          <a:latin typeface="Calibri" pitchFamily="34" charset="0"/>
                          <a:ea typeface="Calibri" pitchFamily="34" charset="-122"/>
                          <a:cs typeface="Calibri" pitchFamily="34" charset="-120"/>
                        </a:rPr>
                        <a:t>Mayor, histórico de RxJava 1</a:t>
                      </a:r>
                      <a:endParaRPr lang="en-US" sz="1050" dirty="0">
                        <a:latin typeface="Calibri" charset="0"/>
                        <a:ea typeface="Calibri" charset="0"/>
                        <a:cs typeface="Calibri" charset="0"/>
                      </a:endParaRPr>
                    </a:p>
                  </a:txBody>
                  <a:tcPr marL="101600" marR="101600" marT="50800" marB="50800"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4343400"/>
            <a:ext cx="11185855" cy="64008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Además, Resilience4j es la opción por defecto que integra Spring Cloud Gateway para el filtro “CircuitBreaker” en las rutas, lo cual simplificó bastante la configuración del Gateway del proyecto.</a:t>
            </a:r>
            <a:endParaRPr lang="en-US" sz="1150" dirty="0"/>
          </a:p>
        </p:txBody>
      </p:sp>
      <p:sp>
        <p:nvSpPr>
          <p:cNvPr id="7" name="Text 4"/>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Por qué Resilience4j</a:t>
            </a:r>
            <a:endParaRPr lang="en-US" sz="900" dirty="0"/>
          </a:p>
        </p:txBody>
      </p:sp>
      <p:sp>
        <p:nvSpPr>
          <p:cNvPr id="8" name="Text 5"/>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3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E2761"/>
          </a:solidFill>
          <a:ln/>
        </p:spPr>
      </p:sp>
      <p:sp>
        <p:nvSpPr>
          <p:cNvPr id="3" name="Text 1"/>
          <p:cNvSpPr/>
          <p:nvPr/>
        </p:nvSpPr>
        <p:spPr>
          <a:xfrm>
            <a:off x="640080" y="2651760"/>
            <a:ext cx="3108960" cy="1463040"/>
          </a:xfrm>
          <a:prstGeom prst="rect">
            <a:avLst/>
          </a:prstGeom>
          <a:noFill/>
          <a:ln/>
        </p:spPr>
        <p:txBody>
          <a:bodyPr wrap="square" rtlCol="0" anchor="ctr"/>
          <a:lstStyle/>
          <a:p>
            <a:pPr indent="0" marL="0">
              <a:buNone/>
            </a:pPr>
            <a:r>
              <a:rPr lang="en-US" sz="5600" b="1" dirty="0">
                <a:solidFill>
                  <a:srgbClr val="C9A227"/>
                </a:solidFill>
                <a:latin typeface="Cambria" pitchFamily="34" charset="0"/>
                <a:ea typeface="Cambria" pitchFamily="34" charset="-122"/>
                <a:cs typeface="Cambria" pitchFamily="34" charset="-120"/>
              </a:rPr>
              <a:t>02</a:t>
            </a:r>
            <a:endParaRPr lang="en-US" sz="5600" dirty="0"/>
          </a:p>
        </p:txBody>
      </p:sp>
      <p:sp>
        <p:nvSpPr>
          <p:cNvPr id="4" name="Text 2"/>
          <p:cNvSpPr/>
          <p:nvPr/>
        </p:nvSpPr>
        <p:spPr>
          <a:xfrm>
            <a:off x="4663440" y="2331720"/>
            <a:ext cx="6949440" cy="11887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Aplicación en el Proyecto</a:t>
            </a:r>
            <a:endParaRPr lang="en-US" sz="3000" dirty="0"/>
          </a:p>
        </p:txBody>
      </p:sp>
      <p:sp>
        <p:nvSpPr>
          <p:cNvPr id="5" name="Text 3"/>
          <p:cNvSpPr/>
          <p:nvPr/>
        </p:nvSpPr>
        <p:spPr>
          <a:xfrm>
            <a:off x="4663440" y="3429000"/>
            <a:ext cx="676656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Dónde y cómo se usó Resilience4j en los 9 microservicios del sistema bancario</a:t>
            </a:r>
            <a:endParaRPr lang="en-US" sz="1400" dirty="0"/>
          </a:p>
        </p:txBody>
      </p:sp>
      <p:sp>
        <p:nvSpPr>
          <p:cNvPr id="6" name="Text 4"/>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Aplicación en el Proyecto</a:t>
            </a:r>
            <a:endParaRPr lang="en-US" sz="900" dirty="0"/>
          </a:p>
        </p:txBody>
      </p:sp>
      <p:sp>
        <p:nvSpPr>
          <p:cNvPr id="7" name="Text 5"/>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APLICACIÓN</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Los 4 puntos donde se protegen llamadas</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81328"/>
            <a:ext cx="457200" cy="457200"/>
          </a:xfrm>
          <a:prstGeom prst="roundRect">
            <a:avLst>
              <a:gd name="adj" fmla="val 50000"/>
            </a:avLst>
          </a:prstGeom>
          <a:solidFill>
            <a:srgbClr val="1E2761"/>
          </a:solidFill>
          <a:ln/>
        </p:spPr>
      </p:sp>
      <p:sp>
        <p:nvSpPr>
          <p:cNvPr id="6" name="Text 4"/>
          <p:cNvSpPr/>
          <p:nvPr/>
        </p:nvSpPr>
        <p:spPr>
          <a:xfrm>
            <a:off x="502920" y="14813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124712" y="1435608"/>
            <a:ext cx="3291840" cy="548640"/>
          </a:xfrm>
          <a:prstGeom prst="rect">
            <a:avLst/>
          </a:prstGeom>
          <a:noFill/>
          <a:ln/>
        </p:spPr>
        <p:txBody>
          <a:bodyPr wrap="square"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ms-gateway</a:t>
            </a:r>
            <a:endParaRPr lang="en-US" sz="1250" dirty="0"/>
          </a:p>
        </p:txBody>
      </p:sp>
      <p:sp>
        <p:nvSpPr>
          <p:cNvPr id="8" name="Text 6"/>
          <p:cNvSpPr/>
          <p:nvPr/>
        </p:nvSpPr>
        <p:spPr>
          <a:xfrm>
            <a:off x="4526280" y="1435608"/>
            <a:ext cx="7162495" cy="54864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Enruta a los 5 microservicios de negocio; cada ruta tiene su propio circuit breaker con fallback a /fallback/{service}</a:t>
            </a:r>
            <a:endParaRPr lang="en-US" sz="1100" dirty="0"/>
          </a:p>
        </p:txBody>
      </p:sp>
      <p:sp>
        <p:nvSpPr>
          <p:cNvPr id="9" name="Shape 7"/>
          <p:cNvSpPr/>
          <p:nvPr/>
        </p:nvSpPr>
        <p:spPr>
          <a:xfrm>
            <a:off x="502920" y="2258568"/>
            <a:ext cx="457200" cy="457200"/>
          </a:xfrm>
          <a:prstGeom prst="roundRect">
            <a:avLst>
              <a:gd name="adj" fmla="val 50000"/>
            </a:avLst>
          </a:prstGeom>
          <a:solidFill>
            <a:srgbClr val="C9A227"/>
          </a:solidFill>
          <a:ln/>
        </p:spPr>
      </p:sp>
      <p:sp>
        <p:nvSpPr>
          <p:cNvPr id="10" name="Text 8"/>
          <p:cNvSpPr/>
          <p:nvPr/>
        </p:nvSpPr>
        <p:spPr>
          <a:xfrm>
            <a:off x="502920" y="22585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124712" y="2212848"/>
            <a:ext cx="3291840" cy="548640"/>
          </a:xfrm>
          <a:prstGeom prst="rect">
            <a:avLst/>
          </a:prstGeom>
          <a:noFill/>
          <a:ln/>
        </p:spPr>
        <p:txBody>
          <a:bodyPr wrap="square"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ms-accounts → ms-customers</a:t>
            </a:r>
            <a:endParaRPr lang="en-US" sz="1250" dirty="0"/>
          </a:p>
        </p:txBody>
      </p:sp>
      <p:sp>
        <p:nvSpPr>
          <p:cNvPr id="12" name="Text 10"/>
          <p:cNvSpPr/>
          <p:nvPr/>
        </p:nvSpPr>
        <p:spPr>
          <a:xfrm>
            <a:off x="4526280" y="2212848"/>
            <a:ext cx="7162495" cy="54864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Valida el cliente antes de abrir una cuenta o hacer una transferencia</a:t>
            </a:r>
            <a:endParaRPr lang="en-US" sz="1100" dirty="0"/>
          </a:p>
        </p:txBody>
      </p:sp>
      <p:sp>
        <p:nvSpPr>
          <p:cNvPr id="13" name="Shape 11"/>
          <p:cNvSpPr/>
          <p:nvPr/>
        </p:nvSpPr>
        <p:spPr>
          <a:xfrm>
            <a:off x="502920" y="3035808"/>
            <a:ext cx="457200" cy="457200"/>
          </a:xfrm>
          <a:prstGeom prst="roundRect">
            <a:avLst>
              <a:gd name="adj" fmla="val 50000"/>
            </a:avLst>
          </a:prstGeom>
          <a:solidFill>
            <a:srgbClr val="C9A227"/>
          </a:solidFill>
          <a:ln/>
        </p:spPr>
      </p:sp>
      <p:sp>
        <p:nvSpPr>
          <p:cNvPr id="14" name="Text 12"/>
          <p:cNvSpPr/>
          <p:nvPr/>
        </p:nvSpPr>
        <p:spPr>
          <a:xfrm>
            <a:off x="502920" y="303580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124712" y="2990088"/>
            <a:ext cx="3291840" cy="548640"/>
          </a:xfrm>
          <a:prstGeom prst="rect">
            <a:avLst/>
          </a:prstGeom>
          <a:noFill/>
          <a:ln/>
        </p:spPr>
        <p:txBody>
          <a:bodyPr wrap="square"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ms-accounts → ms-credits</a:t>
            </a:r>
            <a:endParaRPr lang="en-US" sz="1250" dirty="0"/>
          </a:p>
        </p:txBody>
      </p:sp>
      <p:sp>
        <p:nvSpPr>
          <p:cNvPr id="16" name="Text 14"/>
          <p:cNvSpPr/>
          <p:nvPr/>
        </p:nvSpPr>
        <p:spPr>
          <a:xfrm>
            <a:off x="4526280" y="2990088"/>
            <a:ext cx="7162495" cy="54864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Valida tarjeta de crédito previa (perfil VIP/PYME) y deuda vencida</a:t>
            </a:r>
            <a:endParaRPr lang="en-US" sz="1100" dirty="0"/>
          </a:p>
        </p:txBody>
      </p:sp>
      <p:sp>
        <p:nvSpPr>
          <p:cNvPr id="17" name="Shape 15"/>
          <p:cNvSpPr/>
          <p:nvPr/>
        </p:nvSpPr>
        <p:spPr>
          <a:xfrm>
            <a:off x="502920" y="3813048"/>
            <a:ext cx="457200" cy="457200"/>
          </a:xfrm>
          <a:prstGeom prst="roundRect">
            <a:avLst>
              <a:gd name="adj" fmla="val 50000"/>
            </a:avLst>
          </a:prstGeom>
          <a:solidFill>
            <a:srgbClr val="9A6B00"/>
          </a:solidFill>
          <a:ln/>
        </p:spPr>
      </p:sp>
      <p:sp>
        <p:nvSpPr>
          <p:cNvPr id="18" name="Text 16"/>
          <p:cNvSpPr/>
          <p:nvPr/>
        </p:nvSpPr>
        <p:spPr>
          <a:xfrm>
            <a:off x="502920" y="381304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1124712" y="3767328"/>
            <a:ext cx="3291840" cy="548640"/>
          </a:xfrm>
          <a:prstGeom prst="rect">
            <a:avLst/>
          </a:prstGeom>
          <a:noFill/>
          <a:ln/>
        </p:spPr>
        <p:txBody>
          <a:bodyPr wrap="square"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ms-yanki → ms-accounts</a:t>
            </a:r>
            <a:endParaRPr lang="en-US" sz="1250" dirty="0"/>
          </a:p>
        </p:txBody>
      </p:sp>
      <p:sp>
        <p:nvSpPr>
          <p:cNvPr id="20" name="Text 18"/>
          <p:cNvSpPr/>
          <p:nvPr/>
        </p:nvSpPr>
        <p:spPr>
          <a:xfrm>
            <a:off x="4526280" y="3767328"/>
            <a:ext cx="7162495" cy="54864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Delega la transferencia real del monedero móvil a la cuenta vinculada</a:t>
            </a:r>
            <a:endParaRPr lang="en-US" sz="1100" dirty="0"/>
          </a:p>
        </p:txBody>
      </p:sp>
      <p:sp>
        <p:nvSpPr>
          <p:cNvPr id="21" name="Shape 19"/>
          <p:cNvSpPr/>
          <p:nvPr/>
        </p:nvSpPr>
        <p:spPr>
          <a:xfrm>
            <a:off x="502920" y="4727448"/>
            <a:ext cx="11185855" cy="1417320"/>
          </a:xfrm>
          <a:prstGeom prst="roundRect">
            <a:avLst>
              <a:gd name="adj" fmla="val 5161"/>
            </a:avLst>
          </a:prstGeom>
          <a:solidFill>
            <a:srgbClr val="EDF2FC"/>
          </a:solidFill>
          <a:ln w="12700">
            <a:solidFill>
              <a:srgbClr val="CADCFC"/>
            </a:solidFill>
            <a:prstDash val="solid"/>
          </a:ln>
        </p:spPr>
      </p:sp>
      <p:sp>
        <p:nvSpPr>
          <p:cNvPr id="22" name="Text 20"/>
          <p:cNvSpPr/>
          <p:nvPr/>
        </p:nvSpPr>
        <p:spPr>
          <a:xfrm>
            <a:off x="731520" y="4727448"/>
            <a:ext cx="10728655" cy="141732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Cada uno de estos 4 puntos tiene su propia instancia de circuit breaker con nombre propio (customersCircuitBreaker, creditsCircuitBreaker, accountsClient, etc.), configurada de forma independiente pero heredando los mismos valores por defecto (sliding window 10, umbral 50%, espera 10s, timeout 2s). Así, si ms-credits se cae, no afecta al circuit breaker que protege las llamadas a ms-customers.</a:t>
            </a:r>
            <a:endParaRPr lang="en-US" sz="1150" dirty="0"/>
          </a:p>
        </p:txBody>
      </p:sp>
      <p:sp>
        <p:nvSpPr>
          <p:cNvPr id="23" name="Text 21"/>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Aplicación en el proyecto</a:t>
            </a:r>
            <a:endParaRPr lang="en-US" sz="900" dirty="0"/>
          </a:p>
        </p:txBody>
      </p:sp>
      <p:sp>
        <p:nvSpPr>
          <p:cNvPr id="24" name="Text 22"/>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IMPLEMENTACIÓN</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En el API Gateway (declarativo)</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Text 3"/>
          <p:cNvSpPr/>
          <p:nvPr/>
        </p:nvSpPr>
        <p:spPr>
          <a:xfrm>
            <a:off x="502920" y="1325880"/>
            <a:ext cx="1118585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Spring Cloud Gateway permite declarar el circuit breaker directamente como un filtro de la ruta, sin escribir código adicional:</a:t>
            </a:r>
            <a:endParaRPr lang="en-US" sz="1200" dirty="0"/>
          </a:p>
        </p:txBody>
      </p:sp>
      <p:sp>
        <p:nvSpPr>
          <p:cNvPr id="6" name="Shape 4"/>
          <p:cNvSpPr/>
          <p:nvPr/>
        </p:nvSpPr>
        <p:spPr>
          <a:xfrm>
            <a:off x="502920" y="1783080"/>
            <a:ext cx="11185855" cy="2331720"/>
          </a:xfrm>
          <a:prstGeom prst="roundRect">
            <a:avLst>
              <a:gd name="adj" fmla="val 3137"/>
            </a:avLst>
          </a:prstGeom>
          <a:solidFill>
            <a:srgbClr val="141B3F"/>
          </a:solidFill>
          <a:ln/>
        </p:spPr>
      </p:sp>
      <p:sp>
        <p:nvSpPr>
          <p:cNvPr id="7" name="Text 5"/>
          <p:cNvSpPr/>
          <p:nvPr/>
        </p:nvSpPr>
        <p:spPr>
          <a:xfrm>
            <a:off x="777240" y="1920240"/>
            <a:ext cx="5486400" cy="274320"/>
          </a:xfrm>
          <a:prstGeom prst="rect">
            <a:avLst/>
          </a:prstGeom>
          <a:noFill/>
          <a:ln/>
        </p:spPr>
        <p:txBody>
          <a:bodyPr wrap="square" rtlCol="0" anchor="ctr"/>
          <a:lstStyle/>
          <a:p>
            <a:pPr indent="0" marL="0">
              <a:buNone/>
            </a:pPr>
            <a:r>
              <a:rPr lang="en-US" sz="1000" b="1" dirty="0">
                <a:solidFill>
                  <a:srgbClr val="C9A227"/>
                </a:solidFill>
                <a:latin typeface="Courier New" pitchFamily="34" charset="0"/>
                <a:ea typeface="Courier New" pitchFamily="34" charset="-122"/>
                <a:cs typeface="Courier New" pitchFamily="34" charset="-120"/>
              </a:rPr>
              <a:t>ms-gateway/application.yml</a:t>
            </a:r>
            <a:endParaRPr lang="en-US" sz="1000" dirty="0"/>
          </a:p>
        </p:txBody>
      </p:sp>
      <p:sp>
        <p:nvSpPr>
          <p:cNvPr id="8" name="Text 6"/>
          <p:cNvSpPr/>
          <p:nvPr/>
        </p:nvSpPr>
        <p:spPr>
          <a:xfrm>
            <a:off x="777240" y="2194560"/>
            <a:ext cx="10637215" cy="1828800"/>
          </a:xfrm>
          <a:prstGeom prst="rect">
            <a:avLst/>
          </a:prstGeom>
          <a:noFill/>
          <a:ln/>
        </p:spPr>
        <p:txBody>
          <a:bodyPr wrap="square" rtlCol="0" anchor="ctr"/>
          <a:lstStyle/>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id: ms-accounts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uri: lb://ms-accounts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predicates: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 Path=/api/v1/accounts/**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filters: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 name: CircuitBreaker</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args:</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name: accountsCircuitBreaker</a:t>
            </a:r>
            <a:endParaRPr lang="en-US" sz="1150" dirty="0"/>
          </a:p>
          <a:p>
            <a:pPr indent="0" marL="0">
              <a:lnSpc>
                <a:spcPts val="1700"/>
              </a:lnSpc>
              <a:buNone/>
            </a:pPr>
            <a:r>
              <a:rPr lang="en-US" sz="1150" dirty="0">
                <a:solidFill>
                  <a:srgbClr val="CADCFC"/>
                </a:solidFill>
                <a:latin typeface="Courier New" pitchFamily="34" charset="0"/>
                <a:ea typeface="Courier New" pitchFamily="34" charset="-122"/>
                <a:cs typeface="Courier New" pitchFamily="34" charset="-120"/>
              </a:rPr>
              <a:t>        fallbackUri: forward:/fallback/accounts</a:t>
            </a:r>
            <a:endParaRPr lang="en-US" sz="1150" dirty="0"/>
          </a:p>
        </p:txBody>
      </p:sp>
      <p:sp>
        <p:nvSpPr>
          <p:cNvPr id="9" name="Text 7"/>
          <p:cNvSpPr/>
          <p:nvPr/>
        </p:nvSpPr>
        <p:spPr>
          <a:xfrm>
            <a:off x="502920" y="4297680"/>
            <a:ext cx="11185855" cy="54864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Cuando el circuito está abierto (o la llamada excede el timeout), Spring Cloud Gateway redirige automáticamente a la ruta de fallback, en vez de dejar pasar el error crudo del microservicio caído hacia el cliente.</a:t>
            </a:r>
            <a:endParaRPr lang="en-US" sz="1150" dirty="0"/>
          </a:p>
        </p:txBody>
      </p:sp>
      <p:sp>
        <p:nvSpPr>
          <p:cNvPr id="10" name="Text 8"/>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Implementación — Gateway</a:t>
            </a:r>
            <a:endParaRPr lang="en-US" sz="900" dirty="0"/>
          </a:p>
        </p:txBody>
      </p:sp>
      <p:sp>
        <p:nvSpPr>
          <p:cNvPr id="11" name="Text 9"/>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IMPLEMENTACIÓN</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En llamadas reactivas entre microservicios</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Text 3"/>
          <p:cNvSpPr/>
          <p:nvPr/>
        </p:nvSpPr>
        <p:spPr>
          <a:xfrm>
            <a:off x="502920" y="1325880"/>
            <a:ext cx="11185855" cy="36576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Cuando un microservicio llama a otro directamente (no a través del Gateway), se usa el operador reactivo de Resilience4j sobre el WebClient:</a:t>
            </a:r>
            <a:endParaRPr lang="en-US" sz="1200" dirty="0"/>
          </a:p>
        </p:txBody>
      </p:sp>
      <p:sp>
        <p:nvSpPr>
          <p:cNvPr id="6" name="Shape 4"/>
          <p:cNvSpPr/>
          <p:nvPr/>
        </p:nvSpPr>
        <p:spPr>
          <a:xfrm>
            <a:off x="502920" y="1783080"/>
            <a:ext cx="11185855" cy="2743200"/>
          </a:xfrm>
          <a:prstGeom prst="roundRect">
            <a:avLst>
              <a:gd name="adj" fmla="val 2667"/>
            </a:avLst>
          </a:prstGeom>
          <a:solidFill>
            <a:srgbClr val="141B3F"/>
          </a:solidFill>
          <a:ln/>
        </p:spPr>
      </p:sp>
      <p:sp>
        <p:nvSpPr>
          <p:cNvPr id="7" name="Text 5"/>
          <p:cNvSpPr/>
          <p:nvPr/>
        </p:nvSpPr>
        <p:spPr>
          <a:xfrm>
            <a:off x="777240" y="1920240"/>
            <a:ext cx="5486400" cy="274320"/>
          </a:xfrm>
          <a:prstGeom prst="rect">
            <a:avLst/>
          </a:prstGeom>
          <a:noFill/>
          <a:ln/>
        </p:spPr>
        <p:txBody>
          <a:bodyPr wrap="square" rtlCol="0" anchor="ctr"/>
          <a:lstStyle/>
          <a:p>
            <a:pPr indent="0" marL="0">
              <a:buNone/>
            </a:pPr>
            <a:r>
              <a:rPr lang="en-US" sz="1000" b="1" dirty="0">
                <a:solidFill>
                  <a:srgbClr val="C9A227"/>
                </a:solidFill>
                <a:latin typeface="Courier New" pitchFamily="34" charset="0"/>
                <a:ea typeface="Courier New" pitchFamily="34" charset="-122"/>
                <a:cs typeface="Courier New" pitchFamily="34" charset="-120"/>
              </a:rPr>
              <a:t>CustomerClient.java (ms-accounts)</a:t>
            </a:r>
            <a:endParaRPr lang="en-US" sz="1000" dirty="0"/>
          </a:p>
        </p:txBody>
      </p:sp>
      <p:sp>
        <p:nvSpPr>
          <p:cNvPr id="8" name="Text 6"/>
          <p:cNvSpPr/>
          <p:nvPr/>
        </p:nvSpPr>
        <p:spPr>
          <a:xfrm>
            <a:off x="777240" y="2194560"/>
            <a:ext cx="10637215" cy="2194560"/>
          </a:xfrm>
          <a:prstGeom prst="rect">
            <a:avLst/>
          </a:prstGeom>
          <a:noFill/>
          <a:ln/>
        </p:spPr>
        <p:txBody>
          <a:bodyPr wrap="square" rtlCol="0" anchor="ctr"/>
          <a:lstStyle/>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public Mono&lt;CustomerDto&gt; findById(String customerId) {</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return webClient.get()</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.uri("/api/v1/customers/{id}", customerId)</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.retrieve()</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.bodyToMono(CustomerDto.class)</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.transformDeferred(CircuitBreakerOperator.of(circuitBreaker))</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.onErrorResume(ex -&gt; Mono.error(</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          new CustomerClientException("ms-customers no disponible")));</a:t>
            </a:r>
            <a:endParaRPr lang="en-US" sz="1100" dirty="0"/>
          </a:p>
          <a:p>
            <a:pPr indent="0" marL="0">
              <a:lnSpc>
                <a:spcPts val="17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p:txBody>
      </p:sp>
      <p:sp>
        <p:nvSpPr>
          <p:cNvPr id="9" name="Text 7"/>
          <p:cNvSpPr/>
          <p:nvPr/>
        </p:nvSpPr>
        <p:spPr>
          <a:xfrm>
            <a:off x="502920" y="4709160"/>
            <a:ext cx="11185855" cy="548640"/>
          </a:xfrm>
          <a:prstGeom prst="rect">
            <a:avLst/>
          </a:prstGeom>
          <a:noFill/>
          <a:ln/>
        </p:spPr>
        <p:txBody>
          <a:bodyPr wrap="square"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El CircuitBreakerOperator.of(circuitBreaker) envuelve el Mono y le aplica toda la lógica de estados sin bloquear el hilo — clave en un stack 100% reactivo con WebFlux.</a:t>
            </a:r>
            <a:endParaRPr lang="en-US" sz="1150" dirty="0"/>
          </a:p>
        </p:txBody>
      </p:sp>
      <p:sp>
        <p:nvSpPr>
          <p:cNvPr id="10" name="Text 8"/>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Implementación — Llamadas reactivas</a:t>
            </a:r>
            <a:endParaRPr lang="en-US" sz="900" dirty="0"/>
          </a:p>
        </p:txBody>
      </p:sp>
      <p:sp>
        <p:nvSpPr>
          <p:cNvPr id="11" name="Text 9"/>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ESTRATEGIA DE RESPUESTA</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Qué pasa cuando el circuito se abre</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63040"/>
            <a:ext cx="3520440" cy="2743200"/>
          </a:xfrm>
          <a:prstGeom prst="roundRect">
            <a:avLst>
              <a:gd name="adj" fmla="val 2667"/>
            </a:avLst>
          </a:prstGeom>
          <a:solidFill>
            <a:srgbClr val="FFFFFF"/>
          </a:solidFill>
          <a:ln w="15875">
            <a:solidFill>
              <a:srgbClr val="CADCFC"/>
            </a:solidFill>
            <a:prstDash val="solid"/>
          </a:ln>
        </p:spPr>
      </p:sp>
      <p:sp>
        <p:nvSpPr>
          <p:cNvPr id="6" name="Shape 4"/>
          <p:cNvSpPr/>
          <p:nvPr/>
        </p:nvSpPr>
        <p:spPr>
          <a:xfrm>
            <a:off x="502920" y="1463040"/>
            <a:ext cx="3520440" cy="420624"/>
          </a:xfrm>
          <a:prstGeom prst="roundRect">
            <a:avLst>
              <a:gd name="adj" fmla="val 17391"/>
            </a:avLst>
          </a:prstGeom>
          <a:solidFill>
            <a:srgbClr val="1E2761"/>
          </a:solidFill>
          <a:ln/>
        </p:spPr>
      </p:sp>
      <p:sp>
        <p:nvSpPr>
          <p:cNvPr id="7" name="Text 5"/>
          <p:cNvSpPr/>
          <p:nvPr/>
        </p:nvSpPr>
        <p:spPr>
          <a:xfrm>
            <a:off x="502920" y="1463040"/>
            <a:ext cx="35204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Fallback fijo (Gateway)</a:t>
            </a:r>
            <a:endParaRPr lang="en-US" sz="1300" dirty="0"/>
          </a:p>
        </p:txBody>
      </p:sp>
      <p:sp>
        <p:nvSpPr>
          <p:cNvPr id="8" name="Text 6"/>
          <p:cNvSpPr/>
          <p:nvPr/>
        </p:nvSpPr>
        <p:spPr>
          <a:xfrm>
            <a:off x="704088" y="1993392"/>
            <a:ext cx="3118104" cy="210312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Un endpoint dedicado /fallback/{service}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Devuelve 503 con un mensaje claro y consistente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El cliente externo nunca ve un stacktrace ni un error 500 crudo</a:t>
            </a:r>
            <a:endParaRPr lang="en-US" sz="1100" dirty="0"/>
          </a:p>
        </p:txBody>
      </p:sp>
      <p:sp>
        <p:nvSpPr>
          <p:cNvPr id="9" name="Shape 7"/>
          <p:cNvSpPr/>
          <p:nvPr/>
        </p:nvSpPr>
        <p:spPr>
          <a:xfrm>
            <a:off x="4297680" y="1463040"/>
            <a:ext cx="3520440" cy="2743200"/>
          </a:xfrm>
          <a:prstGeom prst="roundRect">
            <a:avLst>
              <a:gd name="adj" fmla="val 2667"/>
            </a:avLst>
          </a:prstGeom>
          <a:solidFill>
            <a:srgbClr val="FFFFFF"/>
          </a:solidFill>
          <a:ln w="15875">
            <a:solidFill>
              <a:srgbClr val="CADCFC"/>
            </a:solidFill>
            <a:prstDash val="solid"/>
          </a:ln>
        </p:spPr>
      </p:sp>
      <p:sp>
        <p:nvSpPr>
          <p:cNvPr id="10" name="Shape 8"/>
          <p:cNvSpPr/>
          <p:nvPr/>
        </p:nvSpPr>
        <p:spPr>
          <a:xfrm>
            <a:off x="4297680" y="1463040"/>
            <a:ext cx="3520440" cy="420624"/>
          </a:xfrm>
          <a:prstGeom prst="roundRect">
            <a:avLst>
              <a:gd name="adj" fmla="val 17391"/>
            </a:avLst>
          </a:prstGeom>
          <a:solidFill>
            <a:srgbClr val="B3261E"/>
          </a:solidFill>
          <a:ln/>
        </p:spPr>
      </p:sp>
      <p:sp>
        <p:nvSpPr>
          <p:cNvPr id="11" name="Text 9"/>
          <p:cNvSpPr/>
          <p:nvPr/>
        </p:nvSpPr>
        <p:spPr>
          <a:xfrm>
            <a:off x="4297680" y="1463040"/>
            <a:ext cx="35204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Fail-closed (bloquea)</a:t>
            </a:r>
            <a:endParaRPr lang="en-US" sz="1300" dirty="0"/>
          </a:p>
        </p:txBody>
      </p:sp>
      <p:sp>
        <p:nvSpPr>
          <p:cNvPr id="12" name="Text 10"/>
          <p:cNvSpPr/>
          <p:nvPr/>
        </p:nvSpPr>
        <p:spPr>
          <a:xfrm>
            <a:off x="4498848" y="1993392"/>
            <a:ext cx="3118104" cy="210312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hasCreditCard() → si falla, se asume 'false'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Se usa cuando aprobar por error es más riesgoso que rechazar de más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Prioriza la seguridad del negocio sobre la disponibilidad</a:t>
            </a:r>
            <a:endParaRPr lang="en-US" sz="1100" dirty="0"/>
          </a:p>
        </p:txBody>
      </p:sp>
      <p:sp>
        <p:nvSpPr>
          <p:cNvPr id="13" name="Shape 11"/>
          <p:cNvSpPr/>
          <p:nvPr/>
        </p:nvSpPr>
        <p:spPr>
          <a:xfrm>
            <a:off x="8092440" y="1463040"/>
            <a:ext cx="3520440" cy="2743200"/>
          </a:xfrm>
          <a:prstGeom prst="roundRect">
            <a:avLst>
              <a:gd name="adj" fmla="val 2667"/>
            </a:avLst>
          </a:prstGeom>
          <a:solidFill>
            <a:srgbClr val="FFFFFF"/>
          </a:solidFill>
          <a:ln w="15875">
            <a:solidFill>
              <a:srgbClr val="CADCFC"/>
            </a:solidFill>
            <a:prstDash val="solid"/>
          </a:ln>
        </p:spPr>
      </p:sp>
      <p:sp>
        <p:nvSpPr>
          <p:cNvPr id="14" name="Shape 12"/>
          <p:cNvSpPr/>
          <p:nvPr/>
        </p:nvSpPr>
        <p:spPr>
          <a:xfrm>
            <a:off x="8092440" y="1463040"/>
            <a:ext cx="3520440" cy="420624"/>
          </a:xfrm>
          <a:prstGeom prst="roundRect">
            <a:avLst>
              <a:gd name="adj" fmla="val 17391"/>
            </a:avLst>
          </a:prstGeom>
          <a:solidFill>
            <a:srgbClr val="1F8A50"/>
          </a:solidFill>
          <a:ln/>
        </p:spPr>
      </p:sp>
      <p:sp>
        <p:nvSpPr>
          <p:cNvPr id="15" name="Text 13"/>
          <p:cNvSpPr/>
          <p:nvPr/>
        </p:nvSpPr>
        <p:spPr>
          <a:xfrm>
            <a:off x="8092440" y="1463040"/>
            <a:ext cx="35204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Fail-open (permite)</a:t>
            </a:r>
            <a:endParaRPr lang="en-US" sz="1300" dirty="0"/>
          </a:p>
        </p:txBody>
      </p:sp>
      <p:sp>
        <p:nvSpPr>
          <p:cNvPr id="16" name="Text 14"/>
          <p:cNvSpPr/>
          <p:nvPr/>
        </p:nvSpPr>
        <p:spPr>
          <a:xfrm>
            <a:off x="8293608" y="1993392"/>
            <a:ext cx="3118104" cy="210312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hasOverdueDebt() → si falla, se asume 'false'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Se usa cuando bloquear por error afecta más al cliente que el riesgo de dejar pasar</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Prioriza la disponibilidad sobre un bloqueo estricto</a:t>
            </a:r>
            <a:endParaRPr lang="en-US" sz="1100" dirty="0"/>
          </a:p>
        </p:txBody>
      </p:sp>
      <p:sp>
        <p:nvSpPr>
          <p:cNvPr id="17" name="Shape 15"/>
          <p:cNvSpPr/>
          <p:nvPr/>
        </p:nvSpPr>
        <p:spPr>
          <a:xfrm>
            <a:off x="502920" y="4434840"/>
            <a:ext cx="11185855" cy="1463040"/>
          </a:xfrm>
          <a:prstGeom prst="roundRect">
            <a:avLst>
              <a:gd name="adj" fmla="val 5000"/>
            </a:avLst>
          </a:prstGeom>
          <a:solidFill>
            <a:srgbClr val="EDF2FC"/>
          </a:solidFill>
          <a:ln w="12700">
            <a:solidFill>
              <a:srgbClr val="CADCFC"/>
            </a:solidFill>
            <a:prstDash val="solid"/>
          </a:ln>
        </p:spPr>
      </p:sp>
      <p:sp>
        <p:nvSpPr>
          <p:cNvPr id="18" name="Text 16"/>
          <p:cNvSpPr/>
          <p:nvPr/>
        </p:nvSpPr>
        <p:spPr>
          <a:xfrm>
            <a:off x="731520" y="4434840"/>
            <a:ext cx="10728655" cy="146304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La decisión de “fail-open” vs “fail-closed” no es técnica, es de negocio: hay que preguntarse qué es peor si el servicio remoto no responde — dejar pasar una operación que debería haberse bloqueado, o bloquear una operación válida por una falla transitoria de red. En el proyecto, ambas estrategias conviven a propósito, elegidas caso por caso según el riesgo real de cada validación.</a:t>
            </a:r>
            <a:endParaRPr lang="en-US" sz="1150" dirty="0"/>
          </a:p>
        </p:txBody>
      </p:sp>
      <p:sp>
        <p:nvSpPr>
          <p:cNvPr id="19" name="Text 17"/>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Estrategia de fallback</a:t>
            </a:r>
            <a:endParaRPr lang="en-US" sz="900" dirty="0"/>
          </a:p>
        </p:txBody>
      </p:sp>
      <p:sp>
        <p:nvSpPr>
          <p:cNvPr id="20" name="Text 18"/>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DEMOSTRACIÓN</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Cómo se prueba en vivo</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81328"/>
            <a:ext cx="329184" cy="329184"/>
          </a:xfrm>
          <a:prstGeom prst="ellipse">
            <a:avLst/>
          </a:prstGeom>
          <a:solidFill>
            <a:srgbClr val="C9A227"/>
          </a:solidFill>
          <a:ln/>
        </p:spPr>
      </p:sp>
      <p:sp>
        <p:nvSpPr>
          <p:cNvPr id="6" name="Text 4"/>
          <p:cNvSpPr/>
          <p:nvPr/>
        </p:nvSpPr>
        <p:spPr>
          <a:xfrm>
            <a:off x="502920" y="147218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005840" y="146304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Levantar todo el stack</a:t>
            </a:r>
            <a:endParaRPr lang="en-US" sz="1200" dirty="0"/>
          </a:p>
        </p:txBody>
      </p:sp>
      <p:sp>
        <p:nvSpPr>
          <p:cNvPr id="8" name="Text 6"/>
          <p:cNvSpPr/>
          <p:nvPr/>
        </p:nvSpPr>
        <p:spPr>
          <a:xfrm>
            <a:off x="4160520" y="146304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docker compose up --build, y confirmar en Eureka que todos los servicios están UP</a:t>
            </a:r>
            <a:endParaRPr lang="en-US" sz="1050" dirty="0"/>
          </a:p>
        </p:txBody>
      </p:sp>
      <p:sp>
        <p:nvSpPr>
          <p:cNvPr id="9" name="Shape 7"/>
          <p:cNvSpPr/>
          <p:nvPr/>
        </p:nvSpPr>
        <p:spPr>
          <a:xfrm>
            <a:off x="502920" y="2075688"/>
            <a:ext cx="329184" cy="329184"/>
          </a:xfrm>
          <a:prstGeom prst="ellipse">
            <a:avLst/>
          </a:prstGeom>
          <a:solidFill>
            <a:srgbClr val="C9A227"/>
          </a:solidFill>
          <a:ln/>
        </p:spPr>
      </p:sp>
      <p:sp>
        <p:nvSpPr>
          <p:cNvPr id="10" name="Text 8"/>
          <p:cNvSpPr/>
          <p:nvPr/>
        </p:nvSpPr>
        <p:spPr>
          <a:xfrm>
            <a:off x="502920" y="206654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005840" y="205740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Apagar un microservicio dependiente</a:t>
            </a:r>
            <a:endParaRPr lang="en-US" sz="1200" dirty="0"/>
          </a:p>
        </p:txBody>
      </p:sp>
      <p:sp>
        <p:nvSpPr>
          <p:cNvPr id="12" name="Text 10"/>
          <p:cNvSpPr/>
          <p:nvPr/>
        </p:nvSpPr>
        <p:spPr>
          <a:xfrm>
            <a:off x="4160520" y="205740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docker compose stop ms-customers, simulando una caída real</a:t>
            </a:r>
            <a:endParaRPr lang="en-US" sz="1050" dirty="0"/>
          </a:p>
        </p:txBody>
      </p:sp>
      <p:sp>
        <p:nvSpPr>
          <p:cNvPr id="13" name="Shape 11"/>
          <p:cNvSpPr/>
          <p:nvPr/>
        </p:nvSpPr>
        <p:spPr>
          <a:xfrm>
            <a:off x="502920" y="2670048"/>
            <a:ext cx="329184" cy="329184"/>
          </a:xfrm>
          <a:prstGeom prst="ellipse">
            <a:avLst/>
          </a:prstGeom>
          <a:solidFill>
            <a:srgbClr val="C9A227"/>
          </a:solidFill>
          <a:ln/>
        </p:spPr>
      </p:sp>
      <p:sp>
        <p:nvSpPr>
          <p:cNvPr id="14" name="Text 12"/>
          <p:cNvSpPr/>
          <p:nvPr/>
        </p:nvSpPr>
        <p:spPr>
          <a:xfrm>
            <a:off x="502920" y="266090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005840" y="265176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Repetir peticiones que lo necesiten</a:t>
            </a:r>
            <a:endParaRPr lang="en-US" sz="1200" dirty="0"/>
          </a:p>
        </p:txBody>
      </p:sp>
      <p:sp>
        <p:nvSpPr>
          <p:cNvPr id="16" name="Text 14"/>
          <p:cNvSpPr/>
          <p:nvPr/>
        </p:nvSpPr>
        <p:spPr>
          <a:xfrm>
            <a:off x="4160520" y="265176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POST /api/v1/accounts vía el Gateway — las primeras fallan con el timeout de 2s</a:t>
            </a:r>
            <a:endParaRPr lang="en-US" sz="1050" dirty="0"/>
          </a:p>
        </p:txBody>
      </p:sp>
      <p:sp>
        <p:nvSpPr>
          <p:cNvPr id="17" name="Shape 15"/>
          <p:cNvSpPr/>
          <p:nvPr/>
        </p:nvSpPr>
        <p:spPr>
          <a:xfrm>
            <a:off x="502920" y="3264408"/>
            <a:ext cx="329184" cy="329184"/>
          </a:xfrm>
          <a:prstGeom prst="ellipse">
            <a:avLst/>
          </a:prstGeom>
          <a:solidFill>
            <a:srgbClr val="C9A227"/>
          </a:solidFill>
          <a:ln/>
        </p:spPr>
      </p:sp>
      <p:sp>
        <p:nvSpPr>
          <p:cNvPr id="18" name="Text 16"/>
          <p:cNvSpPr/>
          <p:nvPr/>
        </p:nvSpPr>
        <p:spPr>
          <a:xfrm>
            <a:off x="502920" y="325526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005840" y="324612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Observar la apertura del circuito</a:t>
            </a:r>
            <a:endParaRPr lang="en-US" sz="1200" dirty="0"/>
          </a:p>
        </p:txBody>
      </p:sp>
      <p:sp>
        <p:nvSpPr>
          <p:cNvPr id="20" name="Text 18"/>
          <p:cNvSpPr/>
          <p:nvPr/>
        </p:nvSpPr>
        <p:spPr>
          <a:xfrm>
            <a:off x="4160520" y="324612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Después de ~10 llamadas con 50% de fallos, las siguientes responden inmediato con 503 (fallback), sin esperar los 2s de timeout</a:t>
            </a:r>
            <a:endParaRPr lang="en-US" sz="1050" dirty="0"/>
          </a:p>
        </p:txBody>
      </p:sp>
      <p:sp>
        <p:nvSpPr>
          <p:cNvPr id="21" name="Shape 19"/>
          <p:cNvSpPr/>
          <p:nvPr/>
        </p:nvSpPr>
        <p:spPr>
          <a:xfrm>
            <a:off x="502920" y="3858768"/>
            <a:ext cx="329184" cy="329184"/>
          </a:xfrm>
          <a:prstGeom prst="ellipse">
            <a:avLst/>
          </a:prstGeom>
          <a:solidFill>
            <a:srgbClr val="C9A227"/>
          </a:solidFill>
          <a:ln/>
        </p:spPr>
      </p:sp>
      <p:sp>
        <p:nvSpPr>
          <p:cNvPr id="22" name="Text 20"/>
          <p:cNvSpPr/>
          <p:nvPr/>
        </p:nvSpPr>
        <p:spPr>
          <a:xfrm>
            <a:off x="502920" y="384962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5</a:t>
            </a:r>
            <a:endParaRPr lang="en-US" sz="1300" dirty="0"/>
          </a:p>
        </p:txBody>
      </p:sp>
      <p:sp>
        <p:nvSpPr>
          <p:cNvPr id="23" name="Text 21"/>
          <p:cNvSpPr/>
          <p:nvPr/>
        </p:nvSpPr>
        <p:spPr>
          <a:xfrm>
            <a:off x="1005840" y="384048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Reiniciar el servicio caído</a:t>
            </a:r>
            <a:endParaRPr lang="en-US" sz="1200" dirty="0"/>
          </a:p>
        </p:txBody>
      </p:sp>
      <p:sp>
        <p:nvSpPr>
          <p:cNvPr id="24" name="Text 22"/>
          <p:cNvSpPr/>
          <p:nvPr/>
        </p:nvSpPr>
        <p:spPr>
          <a:xfrm>
            <a:off x="4160520" y="384048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docker compose start ms-customers, y esperar el wait-duration-in-open-state (10s)</a:t>
            </a:r>
            <a:endParaRPr lang="en-US" sz="1050" dirty="0"/>
          </a:p>
        </p:txBody>
      </p:sp>
      <p:sp>
        <p:nvSpPr>
          <p:cNvPr id="25" name="Shape 23"/>
          <p:cNvSpPr/>
          <p:nvPr/>
        </p:nvSpPr>
        <p:spPr>
          <a:xfrm>
            <a:off x="502920" y="4453128"/>
            <a:ext cx="329184" cy="329184"/>
          </a:xfrm>
          <a:prstGeom prst="ellipse">
            <a:avLst/>
          </a:prstGeom>
          <a:solidFill>
            <a:srgbClr val="C9A227"/>
          </a:solidFill>
          <a:ln/>
        </p:spPr>
      </p:sp>
      <p:sp>
        <p:nvSpPr>
          <p:cNvPr id="26" name="Text 24"/>
          <p:cNvSpPr/>
          <p:nvPr/>
        </p:nvSpPr>
        <p:spPr>
          <a:xfrm>
            <a:off x="502920" y="4443984"/>
            <a:ext cx="329184" cy="329184"/>
          </a:xfrm>
          <a:prstGeom prst="rect">
            <a:avLst/>
          </a:prstGeom>
          <a:noFill/>
          <a:ln/>
        </p:spPr>
        <p:txBody>
          <a:bodyPr wrap="square" rtlCol="0" anchor="ctr"/>
          <a:lstStyle/>
          <a:p>
            <a:pPr algn="ctr" indent="0" marL="0">
              <a:buNone/>
            </a:pPr>
            <a:r>
              <a:rPr lang="en-US" sz="1300" b="1" dirty="0">
                <a:solidFill>
                  <a:srgbClr val="141B3F"/>
                </a:solidFill>
                <a:latin typeface="Cambria" pitchFamily="34" charset="0"/>
                <a:ea typeface="Cambria" pitchFamily="34" charset="-122"/>
                <a:cs typeface="Cambria" pitchFamily="34" charset="-120"/>
              </a:rPr>
              <a:t>6</a:t>
            </a:r>
            <a:endParaRPr lang="en-US" sz="1300" dirty="0"/>
          </a:p>
        </p:txBody>
      </p:sp>
      <p:sp>
        <p:nvSpPr>
          <p:cNvPr id="27" name="Text 25"/>
          <p:cNvSpPr/>
          <p:nvPr/>
        </p:nvSpPr>
        <p:spPr>
          <a:xfrm>
            <a:off x="1005840" y="4434840"/>
            <a:ext cx="31089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Confirmar la recuperación</a:t>
            </a:r>
            <a:endParaRPr lang="en-US" sz="1200" dirty="0"/>
          </a:p>
        </p:txBody>
      </p:sp>
      <p:sp>
        <p:nvSpPr>
          <p:cNvPr id="28" name="Text 26"/>
          <p:cNvSpPr/>
          <p:nvPr/>
        </p:nvSpPr>
        <p:spPr>
          <a:xfrm>
            <a:off x="4160520" y="4434840"/>
            <a:ext cx="7528255" cy="36576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El circuito pasa a HALF_OPEN, deja pasar 3 llamadas de prueba, y si tienen éxito vuelve a CLOSED</a:t>
            </a:r>
            <a:endParaRPr lang="en-US" sz="1050" dirty="0"/>
          </a:p>
        </p:txBody>
      </p:sp>
      <p:sp>
        <p:nvSpPr>
          <p:cNvPr id="29" name="Text 27"/>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Demostración en vivo</a:t>
            </a:r>
            <a:endParaRPr lang="en-US" sz="900" dirty="0"/>
          </a:p>
        </p:txBody>
      </p:sp>
      <p:sp>
        <p:nvSpPr>
          <p:cNvPr id="30" name="Text 28"/>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502920" y="576072"/>
            <a:ext cx="11185855" cy="548640"/>
          </a:xfrm>
          <a:prstGeom prst="rect">
            <a:avLst/>
          </a:prstGeom>
          <a:noFill/>
          <a:ln/>
        </p:spPr>
        <p:txBody>
          <a:bodyPr wrap="square"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Lecciones aprendidas</a:t>
            </a:r>
            <a:endParaRPr lang="en-US" sz="2500" dirty="0"/>
          </a:p>
        </p:txBody>
      </p:sp>
      <p:sp>
        <p:nvSpPr>
          <p:cNvPr id="4" name="Shape 2"/>
          <p:cNvSpPr/>
          <p:nvPr/>
        </p:nvSpPr>
        <p:spPr>
          <a:xfrm>
            <a:off x="502920" y="1188720"/>
            <a:ext cx="11185855" cy="10973"/>
          </a:xfrm>
          <a:prstGeom prst="rect">
            <a:avLst/>
          </a:prstGeom>
          <a:solidFill>
            <a:srgbClr val="CADCFC"/>
          </a:solidFill>
          <a:ln/>
        </p:spPr>
      </p:sp>
      <p:sp>
        <p:nvSpPr>
          <p:cNvPr id="5" name="Shape 3"/>
          <p:cNvSpPr/>
          <p:nvPr/>
        </p:nvSpPr>
        <p:spPr>
          <a:xfrm>
            <a:off x="502920" y="1463040"/>
            <a:ext cx="5349240" cy="3108960"/>
          </a:xfrm>
          <a:prstGeom prst="roundRect">
            <a:avLst>
              <a:gd name="adj" fmla="val 2353"/>
            </a:avLst>
          </a:prstGeom>
          <a:solidFill>
            <a:srgbClr val="FFFFFF"/>
          </a:solidFill>
          <a:ln w="15875">
            <a:solidFill>
              <a:srgbClr val="CADCFC"/>
            </a:solidFill>
            <a:prstDash val="solid"/>
          </a:ln>
        </p:spPr>
      </p:sp>
      <p:sp>
        <p:nvSpPr>
          <p:cNvPr id="6" name="Shape 4"/>
          <p:cNvSpPr/>
          <p:nvPr/>
        </p:nvSpPr>
        <p:spPr>
          <a:xfrm>
            <a:off x="502920" y="1463040"/>
            <a:ext cx="5349240" cy="420624"/>
          </a:xfrm>
          <a:prstGeom prst="roundRect">
            <a:avLst>
              <a:gd name="adj" fmla="val 17391"/>
            </a:avLst>
          </a:prstGeom>
          <a:solidFill>
            <a:srgbClr val="1F8A50"/>
          </a:solidFill>
          <a:ln/>
        </p:spPr>
      </p:sp>
      <p:sp>
        <p:nvSpPr>
          <p:cNvPr id="7" name="Text 5"/>
          <p:cNvSpPr/>
          <p:nvPr/>
        </p:nvSpPr>
        <p:spPr>
          <a:xfrm>
            <a:off x="502920" y="1463040"/>
            <a:ext cx="53492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que funcionó bien</a:t>
            </a:r>
            <a:endParaRPr lang="en-US" sz="1300" dirty="0"/>
          </a:p>
        </p:txBody>
      </p:sp>
      <p:sp>
        <p:nvSpPr>
          <p:cNvPr id="8" name="Text 6"/>
          <p:cNvSpPr/>
          <p:nvPr/>
        </p:nvSpPr>
        <p:spPr>
          <a:xfrm>
            <a:off x="704088" y="1993392"/>
            <a:ext cx="4946904" cy="24688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Declarar el circuit breaker en el Gateway ahorra mucho código repetido</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Separar una instancia por cada dependencia evita que una caída contamine a las demás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Elegir fail-open o fail-closed según el riesgo real, no por defecto</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El timeout y el circuit breaker se complementan: uno detecta el fallo lento, el otro corta las llamadas repetidas</a:t>
            </a:r>
            <a:endParaRPr lang="en-US" sz="1100" dirty="0"/>
          </a:p>
        </p:txBody>
      </p:sp>
      <p:sp>
        <p:nvSpPr>
          <p:cNvPr id="9" name="Shape 7"/>
          <p:cNvSpPr/>
          <p:nvPr/>
        </p:nvSpPr>
        <p:spPr>
          <a:xfrm>
            <a:off x="6126480" y="1463040"/>
            <a:ext cx="5349240" cy="3108960"/>
          </a:xfrm>
          <a:prstGeom prst="roundRect">
            <a:avLst>
              <a:gd name="adj" fmla="val 2353"/>
            </a:avLst>
          </a:prstGeom>
          <a:solidFill>
            <a:srgbClr val="FFFFFF"/>
          </a:solidFill>
          <a:ln w="15875">
            <a:solidFill>
              <a:srgbClr val="CADCFC"/>
            </a:solidFill>
            <a:prstDash val="solid"/>
          </a:ln>
        </p:spPr>
      </p:sp>
      <p:sp>
        <p:nvSpPr>
          <p:cNvPr id="10" name="Shape 8"/>
          <p:cNvSpPr/>
          <p:nvPr/>
        </p:nvSpPr>
        <p:spPr>
          <a:xfrm>
            <a:off x="6126480" y="1463040"/>
            <a:ext cx="5349240" cy="420624"/>
          </a:xfrm>
          <a:prstGeom prst="roundRect">
            <a:avLst>
              <a:gd name="adj" fmla="val 17391"/>
            </a:avLst>
          </a:prstGeom>
          <a:solidFill>
            <a:srgbClr val="9A6B00"/>
          </a:solidFill>
          <a:ln/>
        </p:spPr>
      </p:sp>
      <p:sp>
        <p:nvSpPr>
          <p:cNvPr id="11" name="Text 9"/>
          <p:cNvSpPr/>
          <p:nvPr/>
        </p:nvSpPr>
        <p:spPr>
          <a:xfrm>
            <a:off x="6126480" y="1463040"/>
            <a:ext cx="5349240"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Cuidados a futuro</a:t>
            </a:r>
            <a:endParaRPr lang="en-US" sz="1300" dirty="0"/>
          </a:p>
        </p:txBody>
      </p:sp>
      <p:sp>
        <p:nvSpPr>
          <p:cNvPr id="12" name="Text 10"/>
          <p:cNvSpPr/>
          <p:nvPr/>
        </p:nvSpPr>
        <p:spPr>
          <a:xfrm>
            <a:off x="6327648" y="1993392"/>
            <a:ext cx="4946904" cy="24688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El circuit breaker no reemplaza el monitoreo: hay que loguear y alertar cuando se abre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Los valores del umbral y el timeout deben ajustarse con datos reales de producción, no quedarse en los de ejemplo</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Un fallback mal diseñado (que oculte el error sin informar nada útil) es tan malo como no tener circuit breaker</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Hay que probar el escenario de caída real, no asumir que funciona solo porque compila</a:t>
            </a:r>
            <a:endParaRPr lang="en-US" sz="1100" dirty="0"/>
          </a:p>
        </p:txBody>
      </p:sp>
      <p:sp>
        <p:nvSpPr>
          <p:cNvPr id="13" name="Shape 11"/>
          <p:cNvSpPr/>
          <p:nvPr/>
        </p:nvSpPr>
        <p:spPr>
          <a:xfrm>
            <a:off x="502920" y="4800600"/>
            <a:ext cx="11185855" cy="1097280"/>
          </a:xfrm>
          <a:prstGeom prst="roundRect">
            <a:avLst>
              <a:gd name="adj" fmla="val 6667"/>
            </a:avLst>
          </a:prstGeom>
          <a:solidFill>
            <a:srgbClr val="141B3F"/>
          </a:solidFill>
          <a:ln/>
        </p:spPr>
      </p:sp>
      <p:sp>
        <p:nvSpPr>
          <p:cNvPr id="14" name="Text 12"/>
          <p:cNvSpPr/>
          <p:nvPr/>
        </p:nvSpPr>
        <p:spPr>
          <a:xfrm>
            <a:off x="777240" y="4800600"/>
            <a:ext cx="10637215" cy="1097280"/>
          </a:xfrm>
          <a:prstGeom prst="rect">
            <a:avLst/>
          </a:prstGeom>
          <a:noFill/>
          <a:ln/>
        </p:spPr>
        <p:txBody>
          <a:bodyPr wrap="square" rtlCol="0" anchor="ctr"/>
          <a:lstStyle/>
          <a:p>
            <a:pPr algn="ctr" indent="0" marL="0">
              <a:buNone/>
            </a:pPr>
            <a:r>
              <a:rPr lang="en-US" sz="1600" b="1" i="1" dirty="0">
                <a:solidFill>
                  <a:srgbClr val="C9A227"/>
                </a:solidFill>
                <a:latin typeface="Cambria" pitchFamily="34" charset="0"/>
                <a:ea typeface="Cambria" pitchFamily="34" charset="-122"/>
                <a:cs typeface="Cambria" pitchFamily="34" charset="-120"/>
              </a:rPr>
              <a:t>El Circuit Breaker no evita que un microservicio falle — evita que su falla se convierta en la falla de todo el sistema.</a:t>
            </a:r>
            <a:endParaRPr lang="en-US" sz="1600" dirty="0"/>
          </a:p>
        </p:txBody>
      </p:sp>
      <p:sp>
        <p:nvSpPr>
          <p:cNvPr id="15" name="Text 13"/>
          <p:cNvSpPr/>
          <p:nvPr/>
        </p:nvSpPr>
        <p:spPr>
          <a:xfrm>
            <a:off x="502920" y="6510528"/>
            <a:ext cx="7315200" cy="274320"/>
          </a:xfrm>
          <a:prstGeom prst="rect">
            <a:avLst/>
          </a:prstGeom>
          <a:noFill/>
          <a:ln/>
        </p:spPr>
        <p:txBody>
          <a:bodyPr wrap="square"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Lecciones aprendidas</a:t>
            </a:r>
            <a:endParaRPr lang="en-US" sz="900" dirty="0"/>
          </a:p>
        </p:txBody>
      </p:sp>
      <p:sp>
        <p:nvSpPr>
          <p:cNvPr id="16" name="Text 14"/>
          <p:cNvSpPr/>
          <p:nvPr/>
        </p:nvSpPr>
        <p:spPr>
          <a:xfrm>
            <a:off x="8031175" y="6510528"/>
            <a:ext cx="36576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Circuit Breaker — Proyecto Bancario | 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3F"/>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1E2761"/>
          </a:solidFill>
          <a:ln/>
        </p:spPr>
      </p:sp>
      <p:sp>
        <p:nvSpPr>
          <p:cNvPr id="3" name="Text 1"/>
          <p:cNvSpPr/>
          <p:nvPr/>
        </p:nvSpPr>
        <p:spPr>
          <a:xfrm>
            <a:off x="502920" y="502920"/>
            <a:ext cx="11185855"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Resumen</a:t>
            </a:r>
            <a:endParaRPr lang="en-US" sz="2800" dirty="0"/>
          </a:p>
        </p:txBody>
      </p:sp>
      <p:sp>
        <p:nvSpPr>
          <p:cNvPr id="4" name="Shape 2"/>
          <p:cNvSpPr/>
          <p:nvPr/>
        </p:nvSpPr>
        <p:spPr>
          <a:xfrm>
            <a:off x="502920" y="1965960"/>
            <a:ext cx="2590724" cy="1554480"/>
          </a:xfrm>
          <a:prstGeom prst="roundRect">
            <a:avLst>
              <a:gd name="adj" fmla="val 5294"/>
            </a:avLst>
          </a:prstGeom>
          <a:solidFill>
            <a:srgbClr val="1E2761"/>
          </a:solidFill>
          <a:ln w="12700">
            <a:solidFill>
              <a:srgbClr val="C9A227"/>
            </a:solidFill>
            <a:prstDash val="solid"/>
          </a:ln>
        </p:spPr>
      </p:sp>
      <p:sp>
        <p:nvSpPr>
          <p:cNvPr id="5" name="Text 3"/>
          <p:cNvSpPr/>
          <p:nvPr/>
        </p:nvSpPr>
        <p:spPr>
          <a:xfrm>
            <a:off x="502920" y="2148840"/>
            <a:ext cx="2590724" cy="685800"/>
          </a:xfrm>
          <a:prstGeom prst="rect">
            <a:avLst/>
          </a:prstGeom>
          <a:noFill/>
          <a:ln/>
        </p:spPr>
        <p:txBody>
          <a:bodyPr wrap="square"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3</a:t>
            </a:r>
            <a:endParaRPr lang="en-US" sz="3000" dirty="0"/>
          </a:p>
        </p:txBody>
      </p:sp>
      <p:sp>
        <p:nvSpPr>
          <p:cNvPr id="6" name="Text 4"/>
          <p:cNvSpPr/>
          <p:nvPr/>
        </p:nvSpPr>
        <p:spPr>
          <a:xfrm>
            <a:off x="640080" y="2788920"/>
            <a:ext cx="2316404" cy="64008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Estados: CLOSED,</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OPEN, HALF_OPEN</a:t>
            </a:r>
            <a:endParaRPr lang="en-US" sz="1050" dirty="0"/>
          </a:p>
        </p:txBody>
      </p:sp>
      <p:sp>
        <p:nvSpPr>
          <p:cNvPr id="7" name="Shape 5"/>
          <p:cNvSpPr/>
          <p:nvPr/>
        </p:nvSpPr>
        <p:spPr>
          <a:xfrm>
            <a:off x="3367964" y="1965960"/>
            <a:ext cx="2590724" cy="1554480"/>
          </a:xfrm>
          <a:prstGeom prst="roundRect">
            <a:avLst>
              <a:gd name="adj" fmla="val 5294"/>
            </a:avLst>
          </a:prstGeom>
          <a:solidFill>
            <a:srgbClr val="1E2761"/>
          </a:solidFill>
          <a:ln w="12700">
            <a:solidFill>
              <a:srgbClr val="C9A227"/>
            </a:solidFill>
            <a:prstDash val="solid"/>
          </a:ln>
        </p:spPr>
      </p:sp>
      <p:sp>
        <p:nvSpPr>
          <p:cNvPr id="8" name="Text 6"/>
          <p:cNvSpPr/>
          <p:nvPr/>
        </p:nvSpPr>
        <p:spPr>
          <a:xfrm>
            <a:off x="3367964" y="2148840"/>
            <a:ext cx="2590724" cy="685800"/>
          </a:xfrm>
          <a:prstGeom prst="rect">
            <a:avLst/>
          </a:prstGeom>
          <a:noFill/>
          <a:ln/>
        </p:spPr>
        <p:txBody>
          <a:bodyPr wrap="square"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4</a:t>
            </a:r>
            <a:endParaRPr lang="en-US" sz="3000" dirty="0"/>
          </a:p>
        </p:txBody>
      </p:sp>
      <p:sp>
        <p:nvSpPr>
          <p:cNvPr id="9" name="Text 7"/>
          <p:cNvSpPr/>
          <p:nvPr/>
        </p:nvSpPr>
        <p:spPr>
          <a:xfrm>
            <a:off x="3505124" y="2788920"/>
            <a:ext cx="2316404" cy="64008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Puntos de aplicación</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en el proyecto</a:t>
            </a:r>
            <a:endParaRPr lang="en-US" sz="1050" dirty="0"/>
          </a:p>
        </p:txBody>
      </p:sp>
      <p:sp>
        <p:nvSpPr>
          <p:cNvPr id="10" name="Shape 8"/>
          <p:cNvSpPr/>
          <p:nvPr/>
        </p:nvSpPr>
        <p:spPr>
          <a:xfrm>
            <a:off x="6233008" y="1965960"/>
            <a:ext cx="2590724" cy="1554480"/>
          </a:xfrm>
          <a:prstGeom prst="roundRect">
            <a:avLst>
              <a:gd name="adj" fmla="val 5294"/>
            </a:avLst>
          </a:prstGeom>
          <a:solidFill>
            <a:srgbClr val="1E2761"/>
          </a:solidFill>
          <a:ln w="12700">
            <a:solidFill>
              <a:srgbClr val="C9A227"/>
            </a:solidFill>
            <a:prstDash val="solid"/>
          </a:ln>
        </p:spPr>
      </p:sp>
      <p:sp>
        <p:nvSpPr>
          <p:cNvPr id="11" name="Text 9"/>
          <p:cNvSpPr/>
          <p:nvPr/>
        </p:nvSpPr>
        <p:spPr>
          <a:xfrm>
            <a:off x="6233008" y="2148840"/>
            <a:ext cx="2590724" cy="685800"/>
          </a:xfrm>
          <a:prstGeom prst="rect">
            <a:avLst/>
          </a:prstGeom>
          <a:noFill/>
          <a:ln/>
        </p:spPr>
        <p:txBody>
          <a:bodyPr wrap="square"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2s</a:t>
            </a:r>
            <a:endParaRPr lang="en-US" sz="3000" dirty="0"/>
          </a:p>
        </p:txBody>
      </p:sp>
      <p:sp>
        <p:nvSpPr>
          <p:cNvPr id="12" name="Text 10"/>
          <p:cNvSpPr/>
          <p:nvPr/>
        </p:nvSpPr>
        <p:spPr>
          <a:xfrm>
            <a:off x="6370168" y="2788920"/>
            <a:ext cx="2316404" cy="64008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Timeout configurado</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con TimeLimiter</a:t>
            </a:r>
            <a:endParaRPr lang="en-US" sz="1050" dirty="0"/>
          </a:p>
        </p:txBody>
      </p:sp>
      <p:sp>
        <p:nvSpPr>
          <p:cNvPr id="13" name="Shape 11"/>
          <p:cNvSpPr/>
          <p:nvPr/>
        </p:nvSpPr>
        <p:spPr>
          <a:xfrm>
            <a:off x="9098051" y="1965960"/>
            <a:ext cx="2590724" cy="1554480"/>
          </a:xfrm>
          <a:prstGeom prst="roundRect">
            <a:avLst>
              <a:gd name="adj" fmla="val 5294"/>
            </a:avLst>
          </a:prstGeom>
          <a:solidFill>
            <a:srgbClr val="1E2761"/>
          </a:solidFill>
          <a:ln w="12700">
            <a:solidFill>
              <a:srgbClr val="C9A227"/>
            </a:solidFill>
            <a:prstDash val="solid"/>
          </a:ln>
        </p:spPr>
      </p:sp>
      <p:sp>
        <p:nvSpPr>
          <p:cNvPr id="14" name="Text 12"/>
          <p:cNvSpPr/>
          <p:nvPr/>
        </p:nvSpPr>
        <p:spPr>
          <a:xfrm>
            <a:off x="9098051" y="2148840"/>
            <a:ext cx="2590724" cy="685800"/>
          </a:xfrm>
          <a:prstGeom prst="rect">
            <a:avLst/>
          </a:prstGeom>
          <a:noFill/>
          <a:ln/>
        </p:spPr>
        <p:txBody>
          <a:bodyPr wrap="square"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1</a:t>
            </a:r>
            <a:endParaRPr lang="en-US" sz="3000" dirty="0"/>
          </a:p>
        </p:txBody>
      </p:sp>
      <p:sp>
        <p:nvSpPr>
          <p:cNvPr id="15" name="Text 13"/>
          <p:cNvSpPr/>
          <p:nvPr/>
        </p:nvSpPr>
        <p:spPr>
          <a:xfrm>
            <a:off x="9235211" y="2788920"/>
            <a:ext cx="2316404" cy="64008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Librería: Resilience4j</a:t>
            </a:r>
            <a:endParaRPr lang="en-US" sz="1050" dirty="0"/>
          </a:p>
          <a:p>
            <a:pPr algn="ctr" indent="0" marL="0">
              <a:buNone/>
            </a:pPr>
            <a:r>
              <a:rPr lang="en-US" sz="1050" dirty="0">
                <a:solidFill>
                  <a:srgbClr val="CADCFC"/>
                </a:solidFill>
                <a:latin typeface="Calibri" pitchFamily="34" charset="0"/>
                <a:ea typeface="Calibri" pitchFamily="34" charset="-122"/>
                <a:cs typeface="Calibri" pitchFamily="34" charset="-120"/>
              </a:rPr>
              <a:t>(oficial de Spring Cloud)</a:t>
            </a:r>
            <a:endParaRPr lang="en-US" sz="1050" dirty="0"/>
          </a:p>
        </p:txBody>
      </p:sp>
      <p:sp>
        <p:nvSpPr>
          <p:cNvPr id="16" name="Text 14"/>
          <p:cNvSpPr/>
          <p:nvPr/>
        </p:nvSpPr>
        <p:spPr>
          <a:xfrm>
            <a:off x="502920" y="3931920"/>
            <a:ext cx="11185855" cy="7315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El Circuit Breaker fue el mecanismo central de resiliencia del proyecto: convierte fallos inevitables de la red en respuestas controladas y predecibles, sin sacrificar la independencia de cada microservicio.</a:t>
            </a:r>
            <a:endParaRPr lang="en-US" sz="1400" dirty="0"/>
          </a:p>
        </p:txBody>
      </p:sp>
      <p:sp>
        <p:nvSpPr>
          <p:cNvPr id="17" name="Text 15"/>
          <p:cNvSpPr/>
          <p:nvPr/>
        </p:nvSpPr>
        <p:spPr>
          <a:xfrm>
            <a:off x="502920" y="5120640"/>
            <a:ext cx="5486400" cy="91440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Gracias</a:t>
            </a:r>
            <a:endParaRPr lang="en-US" sz="3600" dirty="0"/>
          </a:p>
        </p:txBody>
      </p:sp>
      <p:sp>
        <p:nvSpPr>
          <p:cNvPr id="18" name="Text 16"/>
          <p:cNvSpPr/>
          <p:nvPr/>
        </p:nvSpPr>
        <p:spPr>
          <a:xfrm>
            <a:off x="502920" y="5806440"/>
            <a:ext cx="5486400" cy="457200"/>
          </a:xfrm>
          <a:prstGeom prst="rect">
            <a:avLst/>
          </a:prstGeom>
          <a:noFill/>
          <a:ln/>
        </p:spPr>
        <p:txBody>
          <a:bodyPr wrap="square" rtlCol="0" anchor="ctr"/>
          <a:lstStyle/>
          <a:p>
            <a:pPr indent="0" marL="0">
              <a:buNone/>
            </a:pPr>
            <a:r>
              <a:rPr lang="en-US" sz="1300" dirty="0">
                <a:solidFill>
                  <a:srgbClr val="C9A227"/>
                </a:solidFill>
                <a:latin typeface="Calibri" pitchFamily="34" charset="0"/>
                <a:ea typeface="Calibri" pitchFamily="34" charset="-122"/>
                <a:cs typeface="Calibri" pitchFamily="34" charset="-120"/>
              </a:rPr>
              <a:t>Preguntas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2026-08-19T00:47:48Z</dcterms:created>
  <dcterms:modified xsi:type="dcterms:W3CDTF">2026-08-19T00:47:48Z</dcterms:modified>
</cp:coreProperties>
</file>